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6.xml" ContentType="application/vnd.openxmlformats-officedocument.theme+xml"/>
  <Override PartName="/ppt/slideLayouts/slideLayout8.xml" ContentType="application/vnd.openxmlformats-officedocument.presentationml.slideLayout+xml"/>
  <Override PartName="/ppt/theme/theme7.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1" r:id="rId7"/>
  </p:sld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80" r:id="rId29"/>
    <p:sldId id="278" r:id="rId30"/>
    <p:sldId id="279" r:id="rId31"/>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p:cViewPr>
        <p:scale>
          <a:sx n="50" d="100"/>
          <a:sy n="50" d="100"/>
        </p:scale>
        <p:origin x="1156" y="3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slideMaster" Target="slideMasters/slideMaster3.xml"/><Relationship Id="rId21" Type="http://schemas.openxmlformats.org/officeDocument/2006/relationships/slide" Target="slides/slide14.xml"/><Relationship Id="rId34"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6"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2" name="PlaceHolder 4"/>
          <p:cNvSpPr>
            <a:spLocks noGrp="1"/>
          </p:cNvSpPr>
          <p:nvPr>
            <p:ph type="sldNum" idx="2"/>
          </p:nvPr>
        </p:nvSpPr>
        <p:spPr/>
        <p:txBody>
          <a:bodyPr/>
          <a:lstStyle/>
          <a:p>
            <a:fld id="{FC7A6C19-C8F2-40CA-83C9-650E284FE7E3}" type="slidenum">
              <a:t>‹#›</a:t>
            </a:fld>
            <a:endParaRPr/>
          </a:p>
        </p:txBody>
      </p:sp>
      <p:sp>
        <p:nvSpPr>
          <p:cNvPr id="3" name="PlaceHolder 5"/>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Vertical Text">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13"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A47F3BDA-E2D9-409C-9F19-358417290E88}" type="slidenum">
              <a:t>‹#›</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Vertical Title and Tex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20"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4" name="PlaceHolder 3"/>
          <p:cNvSpPr>
            <a:spLocks noGrp="1"/>
          </p:cNvSpPr>
          <p:nvPr>
            <p:ph type="ftr" idx="7"/>
          </p:nvPr>
        </p:nvSpPr>
        <p:spPr/>
        <p:txBody>
          <a:bodyPr/>
          <a:lstStyle/>
          <a:p>
            <a:r>
              <a:t>Footer</a:t>
            </a:r>
          </a:p>
        </p:txBody>
      </p:sp>
      <p:sp>
        <p:nvSpPr>
          <p:cNvPr id="5" name="PlaceHolder 4"/>
          <p:cNvSpPr>
            <a:spLocks noGrp="1"/>
          </p:cNvSpPr>
          <p:nvPr>
            <p:ph type="sldNum" idx="8"/>
          </p:nvPr>
        </p:nvSpPr>
        <p:spPr/>
        <p:txBody>
          <a:bodyPr/>
          <a:lstStyle/>
          <a:p>
            <a:fld id="{91E3EA47-3C74-4DAF-AD4C-DBD6D22456A7}" type="slidenum">
              <a:t>‹#›</a:t>
            </a:fld>
            <a:endParaRPr/>
          </a:p>
        </p:txBody>
      </p:sp>
      <p:sp>
        <p:nvSpPr>
          <p:cNvPr id="6" name="PlaceHolder 5"/>
          <p:cNvSpPr>
            <a:spLocks noGrp="1"/>
          </p:cNvSpPr>
          <p:nvPr>
            <p:ph type="dt" idx="9"/>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27"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C0C3D279-CBCF-4FD5-B0EB-527E5D469CCD}" type="slidenum">
              <a:t>‹#›</a:t>
            </a:fld>
            <a:endParaRPr/>
          </a:p>
        </p:txBody>
      </p:sp>
      <p:sp>
        <p:nvSpPr>
          <p:cNvPr id="6" name="PlaceHolder 5"/>
          <p:cNvSpPr>
            <a:spLocks noGrp="1"/>
          </p:cNvSpPr>
          <p:nvPr>
            <p:ph type="dt" idx="12"/>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lank">
    <p:spTree>
      <p:nvGrpSpPr>
        <p:cNvPr id="1" name=""/>
        <p:cNvGrpSpPr/>
        <p:nvPr/>
      </p:nvGrpSpPr>
      <p:grpSpPr>
        <a:xfrm>
          <a:off x="0" y="0"/>
          <a:ext cx="0" cy="0"/>
          <a:chOff x="0" y="0"/>
          <a:chExt cx="0" cy="0"/>
        </a:xfrm>
      </p:grpSpPr>
      <p:sp>
        <p:nvSpPr>
          <p:cNvPr id="3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33"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
        <p:nvSpPr>
          <p:cNvPr id="4" name="PlaceHolder 3"/>
          <p:cNvSpPr>
            <a:spLocks noGrp="1"/>
          </p:cNvSpPr>
          <p:nvPr>
            <p:ph type="ftr" idx="13"/>
          </p:nvPr>
        </p:nvSpPr>
        <p:spPr/>
        <p:txBody>
          <a:bodyPr/>
          <a:lstStyle/>
          <a:p>
            <a:r>
              <a:t>Footer</a:t>
            </a:r>
          </a:p>
        </p:txBody>
      </p:sp>
      <p:sp>
        <p:nvSpPr>
          <p:cNvPr id="5" name="PlaceHolder 4"/>
          <p:cNvSpPr>
            <a:spLocks noGrp="1"/>
          </p:cNvSpPr>
          <p:nvPr>
            <p:ph type="sldNum" idx="14"/>
          </p:nvPr>
        </p:nvSpPr>
        <p:spPr/>
        <p:txBody>
          <a:bodyPr/>
          <a:lstStyle/>
          <a:p>
            <a:fld id="{8E0BDC8A-7B4C-461D-AD1A-1B826EBE2DE2}" type="slidenum">
              <a:t>‹#›</a:t>
            </a:fld>
            <a:endParaRPr/>
          </a:p>
        </p:txBody>
      </p:sp>
      <p:sp>
        <p:nvSpPr>
          <p:cNvPr id="6" name="PlaceHolder 5"/>
          <p:cNvSpPr>
            <a:spLocks noGrp="1"/>
          </p:cNvSpPr>
          <p:nvPr>
            <p:ph type="dt" idx="15"/>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Default">
    <p:spTree>
      <p:nvGrpSpPr>
        <p:cNvPr id="1" name=""/>
        <p:cNvGrpSpPr/>
        <p:nvPr/>
      </p:nvGrpSpPr>
      <p:grpSpPr>
        <a:xfrm>
          <a:off x="0" y="0"/>
          <a:ext cx="0" cy="0"/>
          <a:chOff x="0" y="0"/>
          <a:chExt cx="0" cy="0"/>
        </a:xfrm>
      </p:grpSpPr>
      <p:sp>
        <p:nvSpPr>
          <p:cNvPr id="3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40"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
        <p:nvSpPr>
          <p:cNvPr id="4" name="PlaceHolder 3"/>
          <p:cNvSpPr>
            <a:spLocks noGrp="1"/>
          </p:cNvSpPr>
          <p:nvPr>
            <p:ph type="ftr" idx="16"/>
          </p:nvPr>
        </p:nvSpPr>
        <p:spPr/>
        <p:txBody>
          <a:bodyPr/>
          <a:lstStyle/>
          <a:p>
            <a:r>
              <a:t>Footer</a:t>
            </a:r>
          </a:p>
        </p:txBody>
      </p:sp>
      <p:sp>
        <p:nvSpPr>
          <p:cNvPr id="5" name="PlaceHolder 4"/>
          <p:cNvSpPr>
            <a:spLocks noGrp="1"/>
          </p:cNvSpPr>
          <p:nvPr>
            <p:ph type="sldNum" idx="17"/>
          </p:nvPr>
        </p:nvSpPr>
        <p:spPr/>
        <p:txBody>
          <a:bodyPr/>
          <a:lstStyle/>
          <a:p>
            <a:fld id="{9DF6841A-2380-4321-8B08-50B749F6A0CD}" type="slidenum">
              <a:t>‹#›</a:t>
            </a:fld>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lstStyle/>
          <a:p>
            <a:r>
              <a:t>Footer</a:t>
            </a:r>
          </a:p>
        </p:txBody>
      </p:sp>
      <p:sp>
        <p:nvSpPr>
          <p:cNvPr id="3" name="PlaceHolder 2"/>
          <p:cNvSpPr>
            <a:spLocks noGrp="1"/>
          </p:cNvSpPr>
          <p:nvPr>
            <p:ph type="sldNum" idx="17"/>
          </p:nvPr>
        </p:nvSpPr>
        <p:spPr/>
        <p:txBody>
          <a:bodyPr/>
          <a:lstStyle/>
          <a:p>
            <a:fld id="{16B5FA3F-6736-4B35-B622-759AB160FE91}" type="slidenum">
              <a:t>‹#›</a:t>
            </a:fld>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Default 1">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47"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
        <p:nvSpPr>
          <p:cNvPr id="4" name="PlaceHolder 3"/>
          <p:cNvSpPr>
            <a:spLocks noGrp="1"/>
          </p:cNvSpPr>
          <p:nvPr>
            <p:ph type="ftr" idx="19"/>
          </p:nvPr>
        </p:nvSpPr>
        <p:spPr/>
        <p:txBody>
          <a:bodyPr/>
          <a:lstStyle/>
          <a:p>
            <a:r>
              <a:t>Footer</a:t>
            </a:r>
          </a:p>
        </p:txBody>
      </p:sp>
      <p:sp>
        <p:nvSpPr>
          <p:cNvPr id="5" name="PlaceHolder 4"/>
          <p:cNvSpPr>
            <a:spLocks noGrp="1"/>
          </p:cNvSpPr>
          <p:nvPr>
            <p:ph type="sldNum" idx="20"/>
          </p:nvPr>
        </p:nvSpPr>
        <p:spPr/>
        <p:txBody>
          <a:bodyPr/>
          <a:lstStyle/>
          <a:p>
            <a:fld id="{B25EFD1D-42A9-4A19-80EE-67B820198AD4}" type="slidenum">
              <a:t>‹#›</a:t>
            </a:fld>
            <a:endParaRPr/>
          </a:p>
        </p:txBody>
      </p:sp>
      <p:sp>
        <p:nvSpPr>
          <p:cNvPr id="6" name="PlaceHolder 5"/>
          <p:cNvSpPr>
            <a:spLocks noGrp="1"/>
          </p:cNvSpPr>
          <p:nvPr>
            <p:ph type="dt" idx="2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6"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
        <p:nvSpPr>
          <p:cNvPr id="2" name="PlaceHolder 3"/>
          <p:cNvSpPr>
            <a:spLocks noGrp="1"/>
          </p:cNvSpPr>
          <p:nvPr>
            <p:ph type="ftr" idx="1"/>
          </p:nvPr>
        </p:nvSpPr>
        <p:spPr>
          <a:xfrm>
            <a:off x="4038480" y="6356520"/>
            <a:ext cx="4113360" cy="3636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strike="noStrike" spc="-1">
                <a:solidFill>
                  <a:srgbClr val="000000"/>
                </a:solidFill>
                <a:latin typeface="Times New Roman"/>
                <a:ea typeface="DejaVu Sans"/>
              </a:defRPr>
            </a:lvl1pPr>
          </a:lstStyle>
          <a:p>
            <a:pPr indent="0" algn="ctr" defTabSz="914400">
              <a:lnSpc>
                <a:spcPct val="100000"/>
              </a:lnSpc>
              <a:buNone/>
              <a:tabLst>
                <a:tab pos="0" algn="l"/>
              </a:tabLst>
            </a:pPr>
            <a:r>
              <a:rPr lang="en-IN" sz="1400" b="0" strike="noStrike" spc="-1">
                <a:solidFill>
                  <a:srgbClr val="000000"/>
                </a:solidFill>
                <a:latin typeface="Times New Roman"/>
                <a:ea typeface="DejaVu Sans"/>
              </a:rPr>
              <a:t>&lt;footer&gt;</a:t>
            </a:r>
            <a:endParaRPr lang="en-IN" sz="1400" b="0" strike="noStrike" spc="-1">
              <a:solidFill>
                <a:srgbClr val="000000"/>
              </a:solidFill>
              <a:latin typeface="Times New Roman"/>
            </a:endParaRPr>
          </a:p>
        </p:txBody>
      </p:sp>
      <p:sp>
        <p:nvSpPr>
          <p:cNvPr id="3" name="PlaceHolder 4"/>
          <p:cNvSpPr>
            <a:spLocks noGrp="1"/>
          </p:cNvSpPr>
          <p:nvPr>
            <p:ph type="sldNum" idx="2"/>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strike="noStrike" spc="-1">
                <a:solidFill>
                  <a:schemeClr val="dk1">
                    <a:tint val="75000"/>
                  </a:schemeClr>
                </a:solidFill>
                <a:latin typeface="Calibri"/>
                <a:ea typeface="DejaVu Sans"/>
              </a:defRPr>
            </a:lvl1pPr>
          </a:lstStyle>
          <a:p>
            <a:pPr indent="0" algn="r" defTabSz="914400">
              <a:lnSpc>
                <a:spcPct val="100000"/>
              </a:lnSpc>
              <a:buNone/>
              <a:tabLst>
                <a:tab pos="0" algn="l"/>
              </a:tabLst>
            </a:pPr>
            <a:fld id="{E0EB4FCA-68A2-491F-ABDB-99312D1200DE}" type="slidenum">
              <a:rPr lang="en-IN" sz="1200" b="0" strike="noStrike" spc="-1">
                <a:solidFill>
                  <a:schemeClr val="dk1">
                    <a:tint val="75000"/>
                  </a:schemeClr>
                </a:solidFill>
                <a:latin typeface="Calibri"/>
                <a:ea typeface="DejaVu Sans"/>
              </a:rPr>
              <a:t>‹#›</a:t>
            </a:fld>
            <a:endParaRPr lang="en-IN" sz="1200" b="0" strike="noStrike" spc="-1">
              <a:solidFill>
                <a:srgbClr val="000000"/>
              </a:solidFill>
              <a:latin typeface="Times New Roman"/>
            </a:endParaRPr>
          </a:p>
        </p:txBody>
      </p:sp>
      <p:sp>
        <p:nvSpPr>
          <p:cNvPr id="4" name="PlaceHolder 5"/>
          <p:cNvSpPr>
            <a:spLocks noGrp="1"/>
          </p:cNvSpPr>
          <p:nvPr>
            <p:ph type="dt" idx="3"/>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8"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
        <p:nvSpPr>
          <p:cNvPr id="9" name="PlaceHolder 3"/>
          <p:cNvSpPr>
            <a:spLocks noGrp="1"/>
          </p:cNvSpPr>
          <p:nvPr>
            <p:ph type="ftr" idx="4"/>
          </p:nvPr>
        </p:nvSpPr>
        <p:spPr>
          <a:xfrm>
            <a:off x="4038480" y="6356520"/>
            <a:ext cx="4113360" cy="3636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strike="noStrike" spc="-1">
                <a:solidFill>
                  <a:srgbClr val="000000"/>
                </a:solidFill>
                <a:latin typeface="Times New Roman"/>
                <a:ea typeface="DejaVu Sans"/>
              </a:defRPr>
            </a:lvl1pPr>
          </a:lstStyle>
          <a:p>
            <a:pPr indent="0" algn="ctr" defTabSz="914400">
              <a:lnSpc>
                <a:spcPct val="100000"/>
              </a:lnSpc>
              <a:buNone/>
              <a:tabLst>
                <a:tab pos="0" algn="l"/>
              </a:tabLst>
            </a:pPr>
            <a:r>
              <a:rPr lang="en-IN" sz="1400" b="0" strike="noStrike" spc="-1">
                <a:solidFill>
                  <a:srgbClr val="000000"/>
                </a:solidFill>
                <a:latin typeface="Times New Roman"/>
                <a:ea typeface="DejaVu Sans"/>
              </a:rPr>
              <a:t>&lt;footer&gt;</a:t>
            </a:r>
            <a:endParaRPr lang="en-IN" sz="1400" b="0" strike="noStrike" spc="-1">
              <a:solidFill>
                <a:srgbClr val="000000"/>
              </a:solidFill>
              <a:latin typeface="Times New Roman"/>
            </a:endParaRPr>
          </a:p>
        </p:txBody>
      </p:sp>
      <p:sp>
        <p:nvSpPr>
          <p:cNvPr id="10" name="PlaceHolder 4"/>
          <p:cNvSpPr>
            <a:spLocks noGrp="1"/>
          </p:cNvSpPr>
          <p:nvPr>
            <p:ph type="sldNum" idx="5"/>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strike="noStrike" spc="-1">
                <a:solidFill>
                  <a:schemeClr val="dk1">
                    <a:tint val="75000"/>
                  </a:schemeClr>
                </a:solidFill>
                <a:latin typeface="Calibri"/>
                <a:ea typeface="DejaVu Sans"/>
              </a:defRPr>
            </a:lvl1pPr>
          </a:lstStyle>
          <a:p>
            <a:pPr indent="0" algn="r" defTabSz="914400">
              <a:lnSpc>
                <a:spcPct val="100000"/>
              </a:lnSpc>
              <a:buNone/>
              <a:tabLst>
                <a:tab pos="0" algn="l"/>
              </a:tabLst>
            </a:pPr>
            <a:fld id="{DAE7A46A-2DDD-4D06-83E6-47ABBD5B8EA7}" type="slidenum">
              <a:rPr lang="en-IN" sz="1200" b="0" strike="noStrike" spc="-1">
                <a:solidFill>
                  <a:schemeClr val="dk1">
                    <a:tint val="75000"/>
                  </a:schemeClr>
                </a:solidFill>
                <a:latin typeface="Calibri"/>
                <a:ea typeface="DejaVu Sans"/>
              </a:rPr>
              <a:t>‹#›</a:t>
            </a:fld>
            <a:endParaRPr lang="en-IN" sz="1200" b="0" strike="noStrike" spc="-1">
              <a:solidFill>
                <a:srgbClr val="000000"/>
              </a:solidFill>
              <a:latin typeface="Times New Roman"/>
            </a:endParaRPr>
          </a:p>
        </p:txBody>
      </p:sp>
      <p:sp>
        <p:nvSpPr>
          <p:cNvPr id="11" name="PlaceHolder 5"/>
          <p:cNvSpPr>
            <a:spLocks noGrp="1"/>
          </p:cNvSpPr>
          <p:nvPr>
            <p:ph type="dt" idx="6"/>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15"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
        <p:nvSpPr>
          <p:cNvPr id="16" name="PlaceHolder 3"/>
          <p:cNvSpPr>
            <a:spLocks noGrp="1"/>
          </p:cNvSpPr>
          <p:nvPr>
            <p:ph type="ftr" idx="7"/>
          </p:nvPr>
        </p:nvSpPr>
        <p:spPr>
          <a:xfrm>
            <a:off x="4038480" y="6356520"/>
            <a:ext cx="4113360" cy="3636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strike="noStrike" spc="-1">
                <a:solidFill>
                  <a:srgbClr val="000000"/>
                </a:solidFill>
                <a:latin typeface="Times New Roman"/>
                <a:ea typeface="DejaVu Sans"/>
              </a:defRPr>
            </a:lvl1pPr>
          </a:lstStyle>
          <a:p>
            <a:pPr indent="0" algn="ctr" defTabSz="914400">
              <a:lnSpc>
                <a:spcPct val="100000"/>
              </a:lnSpc>
              <a:buNone/>
              <a:tabLst>
                <a:tab pos="0" algn="l"/>
              </a:tabLst>
            </a:pPr>
            <a:r>
              <a:rPr lang="en-IN" sz="1400" b="0" strike="noStrike" spc="-1">
                <a:solidFill>
                  <a:srgbClr val="000000"/>
                </a:solidFill>
                <a:latin typeface="Times New Roman"/>
                <a:ea typeface="DejaVu Sans"/>
              </a:rPr>
              <a:t>&lt;footer&gt;</a:t>
            </a:r>
            <a:endParaRPr lang="en-IN" sz="1400" b="0" strike="noStrike" spc="-1">
              <a:solidFill>
                <a:srgbClr val="000000"/>
              </a:solidFill>
              <a:latin typeface="Times New Roman"/>
            </a:endParaRPr>
          </a:p>
        </p:txBody>
      </p:sp>
      <p:sp>
        <p:nvSpPr>
          <p:cNvPr id="17" name="PlaceHolder 4"/>
          <p:cNvSpPr>
            <a:spLocks noGrp="1"/>
          </p:cNvSpPr>
          <p:nvPr>
            <p:ph type="sldNum" idx="8"/>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strike="noStrike" spc="-1">
                <a:solidFill>
                  <a:schemeClr val="dk1">
                    <a:tint val="75000"/>
                  </a:schemeClr>
                </a:solidFill>
                <a:latin typeface="Calibri"/>
                <a:ea typeface="DejaVu Sans"/>
              </a:defRPr>
            </a:lvl1pPr>
          </a:lstStyle>
          <a:p>
            <a:pPr indent="0" algn="r" defTabSz="914400">
              <a:lnSpc>
                <a:spcPct val="100000"/>
              </a:lnSpc>
              <a:buNone/>
              <a:tabLst>
                <a:tab pos="0" algn="l"/>
              </a:tabLst>
            </a:pPr>
            <a:fld id="{078BC9D8-CBAB-437C-A0BB-4A195C14D22B}" type="slidenum">
              <a:rPr lang="en-IN" sz="1200" b="0" strike="noStrike" spc="-1">
                <a:solidFill>
                  <a:schemeClr val="dk1">
                    <a:tint val="75000"/>
                  </a:schemeClr>
                </a:solidFill>
                <a:latin typeface="Calibri"/>
                <a:ea typeface="DejaVu Sans"/>
              </a:rPr>
              <a:t>‹#›</a:t>
            </a:fld>
            <a:endParaRPr lang="en-IN" sz="1200" b="0" strike="noStrike" spc="-1">
              <a:solidFill>
                <a:srgbClr val="000000"/>
              </a:solidFill>
              <a:latin typeface="Times New Roman"/>
            </a:endParaRPr>
          </a:p>
        </p:txBody>
      </p:sp>
      <p:sp>
        <p:nvSpPr>
          <p:cNvPr id="18" name="PlaceHolder 5"/>
          <p:cNvSpPr>
            <a:spLocks noGrp="1"/>
          </p:cNvSpPr>
          <p:nvPr>
            <p:ph type="dt" idx="9"/>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22"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
        <p:nvSpPr>
          <p:cNvPr id="23" name="PlaceHolder 3"/>
          <p:cNvSpPr>
            <a:spLocks noGrp="1"/>
          </p:cNvSpPr>
          <p:nvPr>
            <p:ph type="ftr" idx="10"/>
          </p:nvPr>
        </p:nvSpPr>
        <p:spPr>
          <a:xfrm>
            <a:off x="4038480" y="6356520"/>
            <a:ext cx="4113360" cy="3636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strike="noStrike" spc="-1">
                <a:solidFill>
                  <a:srgbClr val="000000"/>
                </a:solidFill>
                <a:latin typeface="Times New Roman"/>
                <a:ea typeface="DejaVu Sans"/>
              </a:defRPr>
            </a:lvl1pPr>
          </a:lstStyle>
          <a:p>
            <a:pPr indent="0" algn="ctr" defTabSz="914400">
              <a:lnSpc>
                <a:spcPct val="100000"/>
              </a:lnSpc>
              <a:buNone/>
              <a:tabLst>
                <a:tab pos="0" algn="l"/>
              </a:tabLst>
            </a:pPr>
            <a:r>
              <a:rPr lang="en-IN" sz="1400" b="0" strike="noStrike" spc="-1">
                <a:solidFill>
                  <a:srgbClr val="000000"/>
                </a:solidFill>
                <a:latin typeface="Times New Roman"/>
                <a:ea typeface="DejaVu Sans"/>
              </a:rPr>
              <a:t>&lt;footer&gt;</a:t>
            </a:r>
            <a:endParaRPr lang="en-IN" sz="1400" b="0" strike="noStrike" spc="-1">
              <a:solidFill>
                <a:srgbClr val="000000"/>
              </a:solidFill>
              <a:latin typeface="Times New Roman"/>
            </a:endParaRPr>
          </a:p>
        </p:txBody>
      </p:sp>
      <p:sp>
        <p:nvSpPr>
          <p:cNvPr id="24" name="PlaceHolder 4"/>
          <p:cNvSpPr>
            <a:spLocks noGrp="1"/>
          </p:cNvSpPr>
          <p:nvPr>
            <p:ph type="sldNum" idx="11"/>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strike="noStrike" spc="-1">
                <a:solidFill>
                  <a:schemeClr val="dk1">
                    <a:tint val="75000"/>
                  </a:schemeClr>
                </a:solidFill>
                <a:latin typeface="Calibri"/>
                <a:ea typeface="DejaVu Sans"/>
              </a:defRPr>
            </a:lvl1pPr>
          </a:lstStyle>
          <a:p>
            <a:pPr indent="0" algn="r" defTabSz="914400">
              <a:lnSpc>
                <a:spcPct val="100000"/>
              </a:lnSpc>
              <a:buNone/>
              <a:tabLst>
                <a:tab pos="0" algn="l"/>
              </a:tabLst>
            </a:pPr>
            <a:fld id="{DFD47C36-D258-40EC-B476-60140CB1408E}" type="slidenum">
              <a:rPr lang="en-IN" sz="1200" b="0" strike="noStrike" spc="-1">
                <a:solidFill>
                  <a:schemeClr val="dk1">
                    <a:tint val="75000"/>
                  </a:schemeClr>
                </a:solidFill>
                <a:latin typeface="Calibri"/>
                <a:ea typeface="DejaVu Sans"/>
              </a:rPr>
              <a:t>‹#›</a:t>
            </a:fld>
            <a:endParaRPr lang="en-IN" sz="1200" b="0" strike="noStrike" spc="-1">
              <a:solidFill>
                <a:srgbClr val="000000"/>
              </a:solidFill>
              <a:latin typeface="Times New Roman"/>
            </a:endParaRPr>
          </a:p>
        </p:txBody>
      </p:sp>
      <p:sp>
        <p:nvSpPr>
          <p:cNvPr id="25" name="PlaceHolder 5"/>
          <p:cNvSpPr>
            <a:spLocks noGrp="1"/>
          </p:cNvSpPr>
          <p:nvPr>
            <p:ph type="dt" idx="12"/>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29" name="PlaceHolder 2"/>
          <p:cNvSpPr>
            <a:spLocks noGrp="1"/>
          </p:cNvSpPr>
          <p:nvPr>
            <p:ph type="ftr" idx="13"/>
          </p:nvPr>
        </p:nvSpPr>
        <p:spPr>
          <a:xfrm>
            <a:off x="4038480" y="6356520"/>
            <a:ext cx="4113360" cy="3636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strike="noStrike" spc="-1">
                <a:solidFill>
                  <a:srgbClr val="000000"/>
                </a:solidFill>
                <a:latin typeface="Times New Roman"/>
                <a:ea typeface="DejaVu Sans"/>
              </a:defRPr>
            </a:lvl1pPr>
          </a:lstStyle>
          <a:p>
            <a:pPr indent="0" algn="ctr" defTabSz="914400">
              <a:lnSpc>
                <a:spcPct val="100000"/>
              </a:lnSpc>
              <a:buNone/>
              <a:tabLst>
                <a:tab pos="0" algn="l"/>
              </a:tabLst>
            </a:pPr>
            <a:r>
              <a:rPr lang="en-IN" sz="1400" b="0" strike="noStrike" spc="-1">
                <a:solidFill>
                  <a:srgbClr val="000000"/>
                </a:solidFill>
                <a:latin typeface="Times New Roman"/>
                <a:ea typeface="DejaVu Sans"/>
              </a:rPr>
              <a:t>&lt;footer&gt;</a:t>
            </a:r>
            <a:endParaRPr lang="en-IN" sz="1400" b="0" strike="noStrike" spc="-1">
              <a:solidFill>
                <a:srgbClr val="000000"/>
              </a:solidFill>
              <a:latin typeface="Times New Roman"/>
            </a:endParaRPr>
          </a:p>
        </p:txBody>
      </p:sp>
      <p:sp>
        <p:nvSpPr>
          <p:cNvPr id="30" name="PlaceHolder 3"/>
          <p:cNvSpPr>
            <a:spLocks noGrp="1"/>
          </p:cNvSpPr>
          <p:nvPr>
            <p:ph type="sldNum" idx="14"/>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strike="noStrike" spc="-1">
                <a:solidFill>
                  <a:schemeClr val="dk1">
                    <a:tint val="75000"/>
                  </a:schemeClr>
                </a:solidFill>
                <a:latin typeface="Calibri"/>
                <a:ea typeface="DejaVu Sans"/>
              </a:defRPr>
            </a:lvl1pPr>
          </a:lstStyle>
          <a:p>
            <a:pPr indent="0" algn="r" defTabSz="914400">
              <a:lnSpc>
                <a:spcPct val="100000"/>
              </a:lnSpc>
              <a:buNone/>
              <a:tabLst>
                <a:tab pos="0" algn="l"/>
              </a:tabLst>
            </a:pPr>
            <a:fld id="{DA9FCB08-3C17-44E7-A980-51D396454392}" type="slidenum">
              <a:rPr lang="en-IN" sz="1200" b="0" strike="noStrike" spc="-1">
                <a:solidFill>
                  <a:schemeClr val="dk1">
                    <a:tint val="75000"/>
                  </a:schemeClr>
                </a:solidFill>
                <a:latin typeface="Calibri"/>
                <a:ea typeface="DejaVu Sans"/>
              </a:rPr>
              <a:t>‹#›</a:t>
            </a:fld>
            <a:endParaRPr lang="en-IN" sz="1200" b="0" strike="noStrike" spc="-1">
              <a:solidFill>
                <a:srgbClr val="000000"/>
              </a:solidFill>
              <a:latin typeface="Times New Roman"/>
            </a:endParaRPr>
          </a:p>
        </p:txBody>
      </p:sp>
      <p:sp>
        <p:nvSpPr>
          <p:cNvPr id="31" name="PlaceHolder 4"/>
          <p:cNvSpPr>
            <a:spLocks noGrp="1"/>
          </p:cNvSpPr>
          <p:nvPr>
            <p:ph type="dt" idx="15"/>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PlaceHolder 1"/>
          <p:cNvSpPr>
            <a:spLocks noGrp="1"/>
          </p:cNvSpPr>
          <p:nvPr>
            <p:ph type="ftr" idx="16"/>
          </p:nvPr>
        </p:nvSpPr>
        <p:spPr>
          <a:xfrm>
            <a:off x="4038480" y="6356520"/>
            <a:ext cx="4113360" cy="3636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strike="noStrike" spc="-1">
                <a:solidFill>
                  <a:srgbClr val="000000"/>
                </a:solidFill>
                <a:latin typeface="Times New Roman"/>
                <a:ea typeface="DejaVu Sans"/>
              </a:defRPr>
            </a:lvl1pPr>
          </a:lstStyle>
          <a:p>
            <a:pPr indent="0" algn="ctr" defTabSz="914400">
              <a:lnSpc>
                <a:spcPct val="100000"/>
              </a:lnSpc>
              <a:buNone/>
              <a:tabLst>
                <a:tab pos="0" algn="l"/>
              </a:tabLst>
            </a:pPr>
            <a:r>
              <a:rPr lang="en-IN" sz="1400" b="0" strike="noStrike" spc="-1">
                <a:solidFill>
                  <a:srgbClr val="000000"/>
                </a:solidFill>
                <a:latin typeface="Times New Roman"/>
                <a:ea typeface="DejaVu Sans"/>
              </a:rPr>
              <a:t>&lt;footer&gt;</a:t>
            </a:r>
            <a:endParaRPr lang="en-IN" sz="1400" b="0" strike="noStrike" spc="-1">
              <a:solidFill>
                <a:srgbClr val="000000"/>
              </a:solidFill>
              <a:latin typeface="Times New Roman"/>
            </a:endParaRPr>
          </a:p>
        </p:txBody>
      </p:sp>
      <p:sp>
        <p:nvSpPr>
          <p:cNvPr id="35" name="PlaceHolder 2"/>
          <p:cNvSpPr>
            <a:spLocks noGrp="1"/>
          </p:cNvSpPr>
          <p:nvPr>
            <p:ph type="sldNum" idx="17"/>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strike="noStrike" spc="-1">
                <a:solidFill>
                  <a:schemeClr val="dk1">
                    <a:tint val="75000"/>
                  </a:schemeClr>
                </a:solidFill>
                <a:latin typeface="Calibri"/>
                <a:ea typeface="DejaVu Sans"/>
              </a:defRPr>
            </a:lvl1pPr>
          </a:lstStyle>
          <a:p>
            <a:pPr indent="0" algn="r" defTabSz="914400">
              <a:lnSpc>
                <a:spcPct val="100000"/>
              </a:lnSpc>
              <a:buNone/>
              <a:tabLst>
                <a:tab pos="0" algn="l"/>
              </a:tabLst>
            </a:pPr>
            <a:fld id="{4F1F24E7-BEB7-4FA5-A3FB-4ED4F1AB4FA5}" type="slidenum">
              <a:rPr lang="en-IN" sz="1200" b="0" strike="noStrike" spc="-1">
                <a:solidFill>
                  <a:schemeClr val="dk1">
                    <a:tint val="75000"/>
                  </a:schemeClr>
                </a:solidFill>
                <a:latin typeface="Calibri"/>
                <a:ea typeface="DejaVu Sans"/>
              </a:rPr>
              <a:t>‹#›</a:t>
            </a:fld>
            <a:endParaRPr lang="en-IN" sz="1200" b="0" strike="noStrike" spc="-1">
              <a:solidFill>
                <a:srgbClr val="000000"/>
              </a:solidFill>
              <a:latin typeface="Times New Roman"/>
            </a:endParaRPr>
          </a:p>
        </p:txBody>
      </p:sp>
      <p:sp>
        <p:nvSpPr>
          <p:cNvPr id="36" name="PlaceHolder 3"/>
          <p:cNvSpPr>
            <a:spLocks noGrp="1"/>
          </p:cNvSpPr>
          <p:nvPr>
            <p:ph type="dt" idx="18"/>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
        <p:nvSpPr>
          <p:cNvPr id="37"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38"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42" name="PlaceHolder 2"/>
          <p:cNvSpPr>
            <a:spLocks noGrp="1"/>
          </p:cNvSpPr>
          <p:nvPr>
            <p:ph type="ftr" idx="19"/>
          </p:nvPr>
        </p:nvSpPr>
        <p:spPr>
          <a:xfrm>
            <a:off x="4038480" y="6356520"/>
            <a:ext cx="4113360" cy="36360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strike="noStrike" spc="-1">
                <a:solidFill>
                  <a:srgbClr val="000000"/>
                </a:solidFill>
                <a:latin typeface="Times New Roman"/>
                <a:ea typeface="DejaVu Sans"/>
              </a:defRPr>
            </a:lvl1pPr>
          </a:lstStyle>
          <a:p>
            <a:pPr indent="0" algn="ctr" defTabSz="914400">
              <a:lnSpc>
                <a:spcPct val="100000"/>
              </a:lnSpc>
              <a:buNone/>
              <a:tabLst>
                <a:tab pos="0" algn="l"/>
              </a:tabLst>
            </a:pPr>
            <a:r>
              <a:rPr lang="en-IN" sz="1400" b="0" strike="noStrike" spc="-1">
                <a:solidFill>
                  <a:srgbClr val="000000"/>
                </a:solidFill>
                <a:latin typeface="Times New Roman"/>
                <a:ea typeface="DejaVu Sans"/>
              </a:rPr>
              <a:t>&lt;footer&gt;</a:t>
            </a:r>
            <a:endParaRPr lang="en-IN" sz="1400" b="0" strike="noStrike" spc="-1">
              <a:solidFill>
                <a:srgbClr val="000000"/>
              </a:solidFill>
              <a:latin typeface="Times New Roman"/>
            </a:endParaRPr>
          </a:p>
        </p:txBody>
      </p:sp>
      <p:sp>
        <p:nvSpPr>
          <p:cNvPr id="43" name="PlaceHolder 3"/>
          <p:cNvSpPr>
            <a:spLocks noGrp="1"/>
          </p:cNvSpPr>
          <p:nvPr>
            <p:ph type="sldNum" idx="20"/>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strike="noStrike" spc="-1">
                <a:solidFill>
                  <a:schemeClr val="dk1">
                    <a:tint val="75000"/>
                  </a:schemeClr>
                </a:solidFill>
                <a:latin typeface="Calibri"/>
                <a:ea typeface="DejaVu Sans"/>
              </a:defRPr>
            </a:lvl1pPr>
          </a:lstStyle>
          <a:p>
            <a:pPr indent="0" algn="r" defTabSz="914400">
              <a:lnSpc>
                <a:spcPct val="100000"/>
              </a:lnSpc>
              <a:buNone/>
              <a:tabLst>
                <a:tab pos="0" algn="l"/>
              </a:tabLst>
            </a:pPr>
            <a:fld id="{FACB6691-946D-4EFB-B59F-6747B7DA64E3}" type="slidenum">
              <a:rPr lang="en-IN" sz="1200" b="0" strike="noStrike" spc="-1">
                <a:solidFill>
                  <a:schemeClr val="dk1">
                    <a:tint val="75000"/>
                  </a:schemeClr>
                </a:solidFill>
                <a:latin typeface="Calibri"/>
                <a:ea typeface="DejaVu Sans"/>
              </a:rPr>
              <a:t>‹#›</a:t>
            </a:fld>
            <a:endParaRPr lang="en-IN" sz="1200" b="0" strike="noStrike" spc="-1">
              <a:solidFill>
                <a:srgbClr val="000000"/>
              </a:solidFill>
              <a:latin typeface="Times New Roman"/>
            </a:endParaRPr>
          </a:p>
        </p:txBody>
      </p:sp>
      <p:sp>
        <p:nvSpPr>
          <p:cNvPr id="44" name="PlaceHolder 4"/>
          <p:cNvSpPr>
            <a:spLocks noGrp="1"/>
          </p:cNvSpPr>
          <p:nvPr>
            <p:ph type="dt" idx="21"/>
          </p:nvPr>
        </p:nvSpPr>
        <p:spPr>
          <a:xfrm>
            <a:off x="838080" y="6356520"/>
            <a:ext cx="2741760" cy="363600"/>
          </a:xfrm>
          <a:prstGeom prst="rect">
            <a:avLst/>
          </a:prstGeom>
          <a:noFill/>
          <a:ln w="0">
            <a:noFill/>
          </a:ln>
        </p:spPr>
        <p:txBody>
          <a:bodyPr lIns="91440" tIns="45720" rIns="91440" bIns="45720" anchor="ctr">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
        <p:nvSpPr>
          <p:cNvPr id="45"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Picture 1"/>
          <p:cNvPicPr/>
          <p:nvPr/>
        </p:nvPicPr>
        <p:blipFill>
          <a:blip r:embed="rId2"/>
          <a:stretch/>
        </p:blipFill>
        <p:spPr>
          <a:xfrm>
            <a:off x="2432520" y="31320"/>
            <a:ext cx="6473160" cy="2266560"/>
          </a:xfrm>
          <a:prstGeom prst="rect">
            <a:avLst/>
          </a:prstGeom>
          <a:ln w="0">
            <a:noFill/>
          </a:ln>
        </p:spPr>
      </p:pic>
      <p:sp>
        <p:nvSpPr>
          <p:cNvPr id="49" name="TextBox 2"/>
          <p:cNvSpPr/>
          <p:nvPr/>
        </p:nvSpPr>
        <p:spPr>
          <a:xfrm>
            <a:off x="352080" y="2701440"/>
            <a:ext cx="11807640" cy="576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endParaRPr lang="en-IN" sz="1800" b="0" strike="noStrike" spc="-1">
              <a:solidFill>
                <a:srgbClr val="000000"/>
              </a:solidFill>
              <a:latin typeface="Arial"/>
              <a:ea typeface="DejaVu Sans"/>
            </a:endParaRPr>
          </a:p>
        </p:txBody>
      </p:sp>
      <p:sp>
        <p:nvSpPr>
          <p:cNvPr id="50" name="TextBox 3"/>
          <p:cNvSpPr/>
          <p:nvPr/>
        </p:nvSpPr>
        <p:spPr>
          <a:xfrm>
            <a:off x="399960" y="4189680"/>
            <a:ext cx="457056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2800" b="1" strike="noStrike" spc="-1">
                <a:solidFill>
                  <a:schemeClr val="dk1"/>
                </a:solidFill>
                <a:latin typeface="Times New Roman"/>
                <a:ea typeface="DejaVu Sans"/>
              </a:rPr>
              <a:t>TEAM MEMBERS:</a:t>
            </a:r>
            <a:endParaRPr lang="en-IN" sz="2800" b="0" strike="noStrike" spc="-1">
              <a:solidFill>
                <a:srgbClr val="000000"/>
              </a:solidFill>
              <a:latin typeface="Arial"/>
            </a:endParaRPr>
          </a:p>
        </p:txBody>
      </p:sp>
      <p:sp>
        <p:nvSpPr>
          <p:cNvPr id="51" name="TextBox 4"/>
          <p:cNvSpPr/>
          <p:nvPr/>
        </p:nvSpPr>
        <p:spPr>
          <a:xfrm>
            <a:off x="399960" y="4784400"/>
            <a:ext cx="6674400" cy="1187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2400" b="0" strike="noStrike" spc="-1">
                <a:solidFill>
                  <a:schemeClr val="dk1"/>
                </a:solidFill>
                <a:latin typeface="Times New Roman"/>
                <a:ea typeface="DejaVu Sans"/>
              </a:rPr>
              <a:t>CB2308-P.ATHITHYA </a:t>
            </a:r>
            <a:endParaRPr lang="en-IN" sz="2400" b="0" strike="noStrike" spc="-1">
              <a:solidFill>
                <a:srgbClr val="000000"/>
              </a:solidFill>
              <a:latin typeface="Arial"/>
            </a:endParaRPr>
          </a:p>
          <a:p>
            <a:pPr defTabSz="914400">
              <a:lnSpc>
                <a:spcPct val="100000"/>
              </a:lnSpc>
            </a:pPr>
            <a:r>
              <a:rPr lang="en-IN" sz="2400" b="0" strike="noStrike" spc="-1">
                <a:solidFill>
                  <a:schemeClr val="dk1"/>
                </a:solidFill>
                <a:latin typeface="Times New Roman"/>
                <a:ea typeface="DejaVu Sans"/>
              </a:rPr>
              <a:t>CB2335-M.MANIKANDAN</a:t>
            </a:r>
            <a:endParaRPr lang="en-IN" sz="2400" b="0" strike="noStrike" spc="-1">
              <a:solidFill>
                <a:srgbClr val="000000"/>
              </a:solidFill>
              <a:latin typeface="Arial"/>
            </a:endParaRPr>
          </a:p>
          <a:p>
            <a:pPr defTabSz="914400">
              <a:lnSpc>
                <a:spcPct val="100000"/>
              </a:lnSpc>
            </a:pPr>
            <a:r>
              <a:rPr lang="en-IN" sz="2400" b="0" strike="noStrike" spc="-1">
                <a:solidFill>
                  <a:schemeClr val="dk1"/>
                </a:solidFill>
                <a:latin typeface="Times New Roman"/>
                <a:ea typeface="DejaVu Sans"/>
              </a:rPr>
              <a:t>CB2345-M.RIYASH</a:t>
            </a:r>
            <a:endParaRPr lang="en-IN" sz="2400" b="0" strike="noStrike" spc="-1">
              <a:solidFill>
                <a:srgbClr val="000000"/>
              </a:solidFill>
              <a:latin typeface="Arial"/>
            </a:endParaRPr>
          </a:p>
        </p:txBody>
      </p:sp>
      <p:sp>
        <p:nvSpPr>
          <p:cNvPr id="52" name="TextBox 5"/>
          <p:cNvSpPr/>
          <p:nvPr/>
        </p:nvSpPr>
        <p:spPr>
          <a:xfrm>
            <a:off x="7491240" y="4213080"/>
            <a:ext cx="329292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2800" b="1" strike="noStrike" spc="-1">
                <a:solidFill>
                  <a:schemeClr val="dk1"/>
                </a:solidFill>
                <a:latin typeface="Times New Roman"/>
                <a:ea typeface="DejaVu Sans"/>
              </a:rPr>
              <a:t>GUIDE NAME:</a:t>
            </a:r>
            <a:endParaRPr lang="en-IN" sz="2800" b="0" strike="noStrike" spc="-1">
              <a:solidFill>
                <a:srgbClr val="000000"/>
              </a:solidFill>
              <a:latin typeface="Arial"/>
            </a:endParaRPr>
          </a:p>
        </p:txBody>
      </p:sp>
      <p:sp>
        <p:nvSpPr>
          <p:cNvPr id="53" name="TextBox 6"/>
          <p:cNvSpPr/>
          <p:nvPr/>
        </p:nvSpPr>
        <p:spPr>
          <a:xfrm>
            <a:off x="7491240" y="4784400"/>
            <a:ext cx="6062040" cy="821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2400" b="0" strike="noStrike" spc="-1" dirty="0" err="1">
                <a:solidFill>
                  <a:schemeClr val="dk1"/>
                </a:solidFill>
                <a:latin typeface="Times New Roman"/>
                <a:ea typeface="DejaVu Sans"/>
              </a:rPr>
              <a:t>Mrs.N.G.GAYATHRI,M.E</a:t>
            </a:r>
            <a:r>
              <a:rPr lang="en-IN" sz="2400" b="0" strike="noStrike" spc="-1" dirty="0">
                <a:solidFill>
                  <a:schemeClr val="dk1"/>
                </a:solidFill>
                <a:latin typeface="Times New Roman"/>
                <a:ea typeface="DejaVu Sans"/>
              </a:rPr>
              <a:t>.,</a:t>
            </a:r>
            <a:endParaRPr lang="en-IN" sz="2400" b="0" strike="noStrike" spc="-1" dirty="0">
              <a:solidFill>
                <a:srgbClr val="000000"/>
              </a:solidFill>
              <a:latin typeface="Arial"/>
            </a:endParaRPr>
          </a:p>
          <a:p>
            <a:pPr defTabSz="914400">
              <a:lnSpc>
                <a:spcPct val="100000"/>
              </a:lnSpc>
            </a:pPr>
            <a:r>
              <a:rPr lang="en-IN" sz="2400" b="0" strike="noStrike" spc="-1" dirty="0">
                <a:solidFill>
                  <a:schemeClr val="dk1"/>
                </a:solidFill>
                <a:latin typeface="Times New Roman"/>
                <a:ea typeface="DejaVu Sans"/>
              </a:rPr>
              <a:t>ASSISTANT PROFESSOR,CSBS</a:t>
            </a:r>
            <a:endParaRPr lang="en-IN" sz="2400" b="0" strike="noStrike" spc="-1" dirty="0">
              <a:solidFill>
                <a:srgbClr val="000000"/>
              </a:solidFill>
              <a:latin typeface="Arial"/>
            </a:endParaRPr>
          </a:p>
        </p:txBody>
      </p:sp>
      <p:sp>
        <p:nvSpPr>
          <p:cNvPr id="54" name="TextBox 74"/>
          <p:cNvSpPr/>
          <p:nvPr/>
        </p:nvSpPr>
        <p:spPr>
          <a:xfrm>
            <a:off x="720000" y="2700000"/>
            <a:ext cx="10619640" cy="1034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pPr>
            <a:r>
              <a:rPr lang="en-US" sz="2800" b="1" strike="noStrike" spc="-1" dirty="0">
                <a:solidFill>
                  <a:srgbClr val="000000"/>
                </a:solidFill>
                <a:latin typeface="Times New Roman"/>
                <a:ea typeface="DejaVu Sans"/>
              </a:rPr>
              <a:t>ENHANCING BANKING EFFICIENCY WITH A DEEP LEARNING-BASED APPOINTMENT MANAGEMENT SYSTEM</a:t>
            </a:r>
            <a:endParaRPr lang="en-IN" sz="2800" b="0" strike="noStrike" spc="-1" dirty="0">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p:cNvSpPr/>
          <p:nvPr/>
        </p:nvSpPr>
        <p:spPr>
          <a:xfrm>
            <a:off x="953729" y="1553496"/>
            <a:ext cx="10019071" cy="450033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0000"/>
              </a:lnSpc>
            </a:pPr>
            <a:r>
              <a:rPr lang="en-US" sz="2000" b="0" strike="noStrike" spc="-1" dirty="0">
                <a:solidFill>
                  <a:schemeClr val="dk1"/>
                </a:solidFill>
                <a:latin typeface="Times New Roman"/>
                <a:ea typeface="DejaVu Sans"/>
              </a:rPr>
              <a:t>	The Appointment Management System for Banks using Deep Learning is designed to streamline customer scheduling and significantly reduce waiting time in banking services. This system allows customers to conveniently book appointments in advance for services such as account opening, loan processing, and customer support. By leveraging deep learning techniques, the system analyzes historical data to accurately predict peak hours, customer flow patterns, and service durations. This enables intelligent scheduling and efficient resource allocation within the bank.</a:t>
            </a:r>
            <a:endParaRPr lang="en-IN" sz="2000" spc="-1" dirty="0">
              <a:solidFill>
                <a:srgbClr val="000000"/>
              </a:solidFill>
              <a:latin typeface="Arial"/>
              <a:ea typeface="DejaVu Sans"/>
            </a:endParaRPr>
          </a:p>
          <a:p>
            <a:pPr algn="just">
              <a:lnSpc>
                <a:spcPct val="100000"/>
              </a:lnSpc>
            </a:pPr>
            <a:endParaRPr lang="en-IN" sz="2000" b="0" strike="noStrike" spc="-1" dirty="0">
              <a:solidFill>
                <a:srgbClr val="000000"/>
              </a:solidFill>
              <a:latin typeface="Arial"/>
            </a:endParaRPr>
          </a:p>
          <a:p>
            <a:pPr algn="just">
              <a:lnSpc>
                <a:spcPct val="100000"/>
              </a:lnSpc>
            </a:pPr>
            <a:r>
              <a:rPr lang="en-US" sz="2000" b="0" strike="noStrike" spc="-1" dirty="0">
                <a:solidFill>
                  <a:schemeClr val="dk1"/>
                </a:solidFill>
                <a:latin typeface="Times New Roman"/>
                <a:ea typeface="DejaVu Sans"/>
              </a:rPr>
              <a:t>	The system helps minimize overcrowding, optimize staff utilization, and improve overall operational efficiency. Additionally, it provides real-time updates, secure data handling, and adaptive decision-making capabilities. By enhancing both customer experience and service management, the system contributes to a more efficient, reliable, and user-friendly banking environment</a:t>
            </a:r>
            <a:r>
              <a:rPr lang="en-US" sz="2000" spc="-1" dirty="0">
                <a:solidFill>
                  <a:schemeClr val="dk1"/>
                </a:solidFill>
                <a:latin typeface="Times New Roman"/>
                <a:ea typeface="DejaVu Sans"/>
              </a:rPr>
              <a:t>.</a:t>
            </a:r>
            <a:endParaRPr lang="en-IN" sz="2000" b="0" strike="noStrike" spc="-1" dirty="0">
              <a:solidFill>
                <a:srgbClr val="000000"/>
              </a:solidFill>
              <a:latin typeface="Arial"/>
            </a:endParaRPr>
          </a:p>
        </p:txBody>
      </p:sp>
      <p:sp>
        <p:nvSpPr>
          <p:cNvPr id="56" name="Rectangle 55"/>
          <p:cNvSpPr/>
          <p:nvPr/>
        </p:nvSpPr>
        <p:spPr>
          <a:xfrm>
            <a:off x="4475160" y="360000"/>
            <a:ext cx="3639960" cy="794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pPr>
            <a:r>
              <a:rPr lang="en-IN" sz="4000" b="1" strike="noStrike" spc="-1" dirty="0">
                <a:solidFill>
                  <a:schemeClr val="dk1"/>
                </a:solidFill>
                <a:latin typeface="Times New Roman"/>
                <a:ea typeface="DejaVu Sans"/>
              </a:rPr>
              <a:t>ABSTRACT</a:t>
            </a:r>
            <a:endParaRPr lang="en-IN" sz="5000" b="0" strike="noStrike" spc="-1" dirty="0">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56"/>
          <p:cNvSpPr/>
          <p:nvPr/>
        </p:nvSpPr>
        <p:spPr>
          <a:xfrm>
            <a:off x="1049154" y="1376516"/>
            <a:ext cx="9942897" cy="478849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000" b="1" strike="noStrike" spc="-1" dirty="0">
                <a:solidFill>
                  <a:schemeClr val="dk1"/>
                </a:solidFill>
                <a:latin typeface="Times New Roman" panose="02020603050405020304" pitchFamily="18" charset="0"/>
                <a:ea typeface="DejaVu Sans"/>
                <a:cs typeface="Times New Roman" panose="02020603050405020304" pitchFamily="18" charset="0"/>
              </a:rPr>
              <a:t>Efficient Banking Services:</a:t>
            </a:r>
            <a:br>
              <a:rPr sz="2000" dirty="0">
                <a:latin typeface="Times New Roman" panose="02020603050405020304" pitchFamily="18" charset="0"/>
                <a:cs typeface="Times New Roman" panose="02020603050405020304" pitchFamily="18" charset="0"/>
              </a:rPr>
            </a:br>
            <a:r>
              <a:rPr lang="en-US" sz="2000" b="0" strike="noStrike" spc="-1" dirty="0">
                <a:solidFill>
                  <a:schemeClr val="dk1"/>
                </a:solidFill>
                <a:latin typeface="Times New Roman" panose="02020603050405020304" pitchFamily="18" charset="0"/>
                <a:ea typeface="DejaVu Sans"/>
                <a:cs typeface="Times New Roman" panose="02020603050405020304" pitchFamily="18" charset="0"/>
              </a:rPr>
              <a:t>The system helps banks manage customer appointments effectively, reducing long queues and improving overall service quality. By organizing customer visits in advance, it ensures a smooth and structured banking experience.</a:t>
            </a:r>
            <a:endParaRPr lang="en-IN" sz="2000" spc="-1" dirty="0">
              <a:solidFill>
                <a:srgbClr val="000000"/>
              </a:solidFill>
              <a:latin typeface="Times New Roman" panose="02020603050405020304" pitchFamily="18" charset="0"/>
              <a:ea typeface="DejaVu Sans"/>
              <a:cs typeface="Times New Roman" panose="02020603050405020304" pitchFamily="18" charset="0"/>
            </a:endParaRPr>
          </a:p>
          <a:p>
            <a:pPr>
              <a:lnSpc>
                <a:spcPct val="100000"/>
              </a:lnSpc>
            </a:pPr>
            <a:endParaRPr lang="en-IN"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pPr>
            <a:r>
              <a:rPr lang="en-US" sz="2000" b="1" strike="noStrike" spc="-1" dirty="0">
                <a:solidFill>
                  <a:schemeClr val="dk1"/>
                </a:solidFill>
                <a:latin typeface="Times New Roman" panose="02020603050405020304" pitchFamily="18" charset="0"/>
                <a:ea typeface="DejaVu Sans"/>
                <a:cs typeface="Times New Roman" panose="02020603050405020304" pitchFamily="18" charset="0"/>
              </a:rPr>
              <a:t>Smart Scheduling:</a:t>
            </a:r>
            <a:br>
              <a:rPr sz="2000" dirty="0">
                <a:latin typeface="Times New Roman" panose="02020603050405020304" pitchFamily="18" charset="0"/>
                <a:cs typeface="Times New Roman" panose="02020603050405020304" pitchFamily="18" charset="0"/>
              </a:rPr>
            </a:br>
            <a:r>
              <a:rPr lang="en-US" sz="2000" b="0" strike="noStrike" spc="-1" dirty="0">
                <a:solidFill>
                  <a:schemeClr val="dk1"/>
                </a:solidFill>
                <a:latin typeface="Times New Roman" panose="02020603050405020304" pitchFamily="18" charset="0"/>
                <a:ea typeface="DejaVu Sans"/>
                <a:cs typeface="Times New Roman" panose="02020603050405020304" pitchFamily="18" charset="0"/>
              </a:rPr>
              <a:t>Deep learning techniques analyze historical data and customer patterns to accurately predict peak hours and service demand. This enables efficient allocation of time slots and better planning of banking operations.</a:t>
            </a:r>
            <a:endParaRPr lang="en-IN"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pPr>
            <a:endParaRPr lang="en-IN"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pPr>
            <a:r>
              <a:rPr lang="en-US" sz="2000" b="1" strike="noStrike" spc="-1" dirty="0">
                <a:solidFill>
                  <a:schemeClr val="dk1"/>
                </a:solidFill>
                <a:latin typeface="Times New Roman" panose="02020603050405020304" pitchFamily="18" charset="0"/>
                <a:ea typeface="DejaVu Sans"/>
                <a:cs typeface="Times New Roman" panose="02020603050405020304" pitchFamily="18" charset="0"/>
              </a:rPr>
              <a:t>Customer Convenience:</a:t>
            </a:r>
            <a:br>
              <a:rPr sz="2000" dirty="0">
                <a:latin typeface="Times New Roman" panose="02020603050405020304" pitchFamily="18" charset="0"/>
                <a:cs typeface="Times New Roman" panose="02020603050405020304" pitchFamily="18" charset="0"/>
              </a:rPr>
            </a:br>
            <a:r>
              <a:rPr lang="en-US" sz="2000" b="0" strike="noStrike" spc="-1" dirty="0">
                <a:solidFill>
                  <a:schemeClr val="dk1"/>
                </a:solidFill>
                <a:latin typeface="Times New Roman" panose="02020603050405020304" pitchFamily="18" charset="0"/>
                <a:ea typeface="DejaVu Sans"/>
                <a:cs typeface="Times New Roman" panose="02020603050405020304" pitchFamily="18" charset="0"/>
              </a:rPr>
              <a:t>Customers can easily book, modify, or cancel appointments through an online platform. This flexibility enhances user experience and eliminates the need for long waiting times at the bank.</a:t>
            </a:r>
            <a:endParaRPr lang="en-IN" sz="2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58" name="Rectangle 57"/>
          <p:cNvSpPr/>
          <p:nvPr/>
        </p:nvSpPr>
        <p:spPr>
          <a:xfrm>
            <a:off x="3125329" y="274529"/>
            <a:ext cx="5763031" cy="596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pPr>
            <a:r>
              <a:rPr lang="en-US" sz="4000" b="1" strike="noStrike" spc="-1" dirty="0">
                <a:solidFill>
                  <a:schemeClr val="dk1"/>
                </a:solidFill>
                <a:latin typeface="Times New Roman"/>
                <a:ea typeface="Canva Sans"/>
              </a:rPr>
              <a:t>INTRODUCTION</a:t>
            </a:r>
            <a:endParaRPr lang="en-IN" sz="5000" b="0" strike="noStrike" spc="-1" dirty="0">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1078028" y="1167716"/>
            <a:ext cx="9904397" cy="5126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0000"/>
              </a:lnSpc>
            </a:pPr>
            <a:r>
              <a:rPr lang="en-US" sz="2000" b="0" strike="noStrike" spc="-1" dirty="0">
                <a:solidFill>
                  <a:schemeClr val="dk1"/>
                </a:solidFill>
                <a:latin typeface="Times New Roman" panose="02020603050405020304" pitchFamily="18" charset="0"/>
                <a:ea typeface="DejaVu Sans"/>
                <a:cs typeface="Times New Roman" panose="02020603050405020304" pitchFamily="18" charset="0"/>
              </a:rPr>
              <a:t>Traditional banking systems face several challenges such as long waiting times, overcrowding, inefficient staff allocation, and the lack of effective scheduling mechanisms. Manual appointment handling or walk-in systems often result in customer dissatisfaction and poor service management.</a:t>
            </a:r>
            <a:endParaRPr lang="en-IN" sz="20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endParaRPr lang="en-IN" sz="20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r>
              <a:rPr lang="en-US" sz="2000" b="0" strike="noStrike" spc="-1" dirty="0">
                <a:solidFill>
                  <a:schemeClr val="dk1"/>
                </a:solidFill>
                <a:latin typeface="Times New Roman" panose="02020603050405020304" pitchFamily="18" charset="0"/>
                <a:ea typeface="DejaVu Sans"/>
                <a:cs typeface="Times New Roman" panose="02020603050405020304" pitchFamily="18" charset="0"/>
              </a:rPr>
              <a:t>Although some digital solutions exist, they lack advanced predictive capabilities and fail to adapt to dynamic customer demand and varying service patterns. These systems are not capable of accurately forecasting peak hours or optimizing appointment schedules in real time.</a:t>
            </a:r>
            <a:endParaRPr lang="en-IN" sz="20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endParaRPr lang="en-IN" sz="20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r>
              <a:rPr lang="en-US" sz="2000" b="0" strike="noStrike" spc="-1" dirty="0">
                <a:solidFill>
                  <a:schemeClr val="dk1"/>
                </a:solidFill>
                <a:latin typeface="Times New Roman" panose="02020603050405020304" pitchFamily="18" charset="0"/>
                <a:ea typeface="DejaVu Sans"/>
                <a:cs typeface="Times New Roman" panose="02020603050405020304" pitchFamily="18" charset="0"/>
              </a:rPr>
              <a:t>Therefore, there is a need for an intelligent </a:t>
            </a:r>
            <a:r>
              <a:rPr lang="en-US" sz="2000" b="1" strike="noStrike" spc="-1" dirty="0">
                <a:solidFill>
                  <a:schemeClr val="dk1"/>
                </a:solidFill>
                <a:latin typeface="Times New Roman" panose="02020603050405020304" pitchFamily="18" charset="0"/>
                <a:ea typeface="DejaVu Sans"/>
                <a:cs typeface="Times New Roman" panose="02020603050405020304" pitchFamily="18" charset="0"/>
              </a:rPr>
              <a:t>Appointment Management System for Banks using Deep Learning</a:t>
            </a:r>
            <a:r>
              <a:rPr lang="en-US" sz="2000" b="0" strike="noStrike" spc="-1" dirty="0">
                <a:solidFill>
                  <a:schemeClr val="dk1"/>
                </a:solidFill>
                <a:latin typeface="Times New Roman" panose="02020603050405020304" pitchFamily="18" charset="0"/>
                <a:ea typeface="DejaVu Sans"/>
                <a:cs typeface="Times New Roman" panose="02020603050405020304" pitchFamily="18" charset="0"/>
              </a:rPr>
              <a:t>. By leveraging deep learning techniques, the system can analyze historical data, predict customer flow, estimate service duration, and optimize scheduling. This will help reduce waiting time, improve resource utilization, and enhance overall customer satisfaction.</a:t>
            </a:r>
            <a:endParaRPr lang="en-IN" sz="2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60" name="Rectangle 59"/>
          <p:cNvSpPr/>
          <p:nvPr/>
        </p:nvSpPr>
        <p:spPr>
          <a:xfrm>
            <a:off x="1911240" y="116280"/>
            <a:ext cx="8348400" cy="85711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pPr>
            <a:r>
              <a:rPr lang="en-US" sz="4000" b="1" strike="noStrike" spc="-1" dirty="0">
                <a:solidFill>
                  <a:srgbClr val="000000"/>
                </a:solidFill>
                <a:latin typeface="Times New Roman"/>
                <a:ea typeface="Canva Sans"/>
              </a:rPr>
              <a:t>PROBLEM STATEMENT</a:t>
            </a:r>
            <a:endParaRPr lang="en-IN" sz="4000" b="0" strike="noStrike" spc="-1" dirty="0">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Picture 60"/>
          <p:cNvPicPr/>
          <p:nvPr/>
        </p:nvPicPr>
        <p:blipFill>
          <a:blip r:embed="rId2"/>
          <a:stretch/>
        </p:blipFill>
        <p:spPr>
          <a:xfrm>
            <a:off x="360000" y="-8280"/>
            <a:ext cx="11831760" cy="6857280"/>
          </a:xfrm>
          <a:prstGeom prst="rect">
            <a:avLst/>
          </a:prstGeom>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61"/>
          <p:cNvSpPr/>
          <p:nvPr/>
        </p:nvSpPr>
        <p:spPr>
          <a:xfrm>
            <a:off x="1039528" y="1174282"/>
            <a:ext cx="9962148" cy="57884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400" b="1" strike="noStrike" spc="-1" dirty="0">
                <a:solidFill>
                  <a:schemeClr val="dk1"/>
                </a:solidFill>
                <a:latin typeface="Times New Roman"/>
                <a:ea typeface="DejaVu Sans"/>
              </a:rPr>
              <a:t>Manual Token System:</a:t>
            </a:r>
            <a:br>
              <a:rPr sz="2000" dirty="0"/>
            </a:br>
            <a:r>
              <a:rPr lang="en-US" sz="2000" b="0" strike="noStrike" spc="-1" dirty="0">
                <a:solidFill>
                  <a:schemeClr val="dk1"/>
                </a:solidFill>
                <a:latin typeface="Times New Roman"/>
                <a:ea typeface="DejaVu Sans"/>
              </a:rPr>
              <a:t>In many banks, customer handling is still based on manual token or walk-in systems. Customers must wait in long queues without prior scheduling, leading to overcrowding and increased waiting times. This approach lacks efficiency, proper time management, and does not provide any predictive capability for handling customer flow.</a:t>
            </a:r>
          </a:p>
          <a:p>
            <a:pPr>
              <a:lnSpc>
                <a:spcPct val="100000"/>
              </a:lnSpc>
            </a:pPr>
            <a:endParaRPr lang="en-IN" sz="2000" b="0" strike="noStrike" spc="-1" dirty="0">
              <a:solidFill>
                <a:srgbClr val="000000"/>
              </a:solidFill>
              <a:latin typeface="Arial"/>
            </a:endParaRPr>
          </a:p>
          <a:p>
            <a:pPr>
              <a:lnSpc>
                <a:spcPct val="100000"/>
              </a:lnSpc>
            </a:pPr>
            <a:r>
              <a:rPr lang="en-US" sz="2400" b="1" strike="noStrike" spc="-1" dirty="0">
                <a:solidFill>
                  <a:schemeClr val="dk1"/>
                </a:solidFill>
                <a:latin typeface="Times New Roman"/>
                <a:ea typeface="DejaVu Sans"/>
              </a:rPr>
              <a:t>Basic Digital Appointment Systems:</a:t>
            </a:r>
            <a:br>
              <a:rPr sz="2000" dirty="0"/>
            </a:br>
            <a:r>
              <a:rPr lang="en-US" sz="2000" b="0" strike="noStrike" spc="-1" dirty="0">
                <a:solidFill>
                  <a:schemeClr val="dk1"/>
                </a:solidFill>
                <a:latin typeface="Times New Roman"/>
                <a:ea typeface="DejaVu Sans"/>
              </a:rPr>
              <a:t>Some banks have adopted simple online appointment booking systems. While these systems allow customers to schedule visits, they operate on fixed time slots without considering real-time demand or historical patterns. These systems do not use advanced analytics and often fail to prevent peak-hour congestion.</a:t>
            </a:r>
          </a:p>
          <a:p>
            <a:pPr>
              <a:lnSpc>
                <a:spcPct val="100000"/>
              </a:lnSpc>
            </a:pPr>
            <a:endParaRPr lang="en-IN" sz="2000" b="0" strike="noStrike" spc="-1" dirty="0">
              <a:solidFill>
                <a:srgbClr val="000000"/>
              </a:solidFill>
              <a:latin typeface="Arial"/>
            </a:endParaRPr>
          </a:p>
          <a:p>
            <a:pPr>
              <a:lnSpc>
                <a:spcPct val="100000"/>
              </a:lnSpc>
            </a:pPr>
            <a:r>
              <a:rPr lang="en-US" sz="2400" b="1" strike="noStrike" spc="-1" dirty="0">
                <a:solidFill>
                  <a:schemeClr val="dk1"/>
                </a:solidFill>
                <a:latin typeface="Times New Roman"/>
                <a:ea typeface="DejaVu Sans"/>
              </a:rPr>
              <a:t>Lack of Intelligent Prediction:</a:t>
            </a:r>
            <a:br>
              <a:rPr sz="2000" dirty="0"/>
            </a:br>
            <a:r>
              <a:rPr lang="en-US" sz="2000" b="0" strike="noStrike" spc="-1" dirty="0">
                <a:solidFill>
                  <a:schemeClr val="dk1"/>
                </a:solidFill>
                <a:latin typeface="Times New Roman"/>
                <a:ea typeface="DejaVu Sans"/>
              </a:rPr>
              <a:t>Existing systems do not incorporate deep learning or advanced predictive techniques. As a result, they are unable to forecast customer inflow, estimate service duration, or dynamically adjust scheduling. This leads to inefficient staff allocation and underutilization of resources during non-peak hours.</a:t>
            </a:r>
            <a:endParaRPr lang="en-IN" sz="2000" b="0" strike="noStrike" spc="-1" dirty="0">
              <a:solidFill>
                <a:srgbClr val="000000"/>
              </a:solidFill>
              <a:latin typeface="Arial"/>
            </a:endParaRPr>
          </a:p>
        </p:txBody>
      </p:sp>
      <p:sp>
        <p:nvSpPr>
          <p:cNvPr id="63" name="Rectangle 62"/>
          <p:cNvSpPr/>
          <p:nvPr/>
        </p:nvSpPr>
        <p:spPr>
          <a:xfrm>
            <a:off x="2880000" y="180000"/>
            <a:ext cx="6059880" cy="79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pPr>
            <a:r>
              <a:rPr lang="en-US" sz="4000" b="1" strike="noStrike" spc="-1" dirty="0">
                <a:solidFill>
                  <a:srgbClr val="000000"/>
                </a:solidFill>
                <a:latin typeface="Times New Roman"/>
                <a:ea typeface="Canva Sans"/>
              </a:rPr>
              <a:t>EXISTING SYSTEM</a:t>
            </a:r>
            <a:endParaRPr lang="en-IN" sz="4000" b="0" strike="noStrike" spc="-1" dirty="0">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Box 1"/>
          <p:cNvSpPr/>
          <p:nvPr/>
        </p:nvSpPr>
        <p:spPr>
          <a:xfrm>
            <a:off x="1228320" y="137160"/>
            <a:ext cx="10895040" cy="132198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4000" b="1" strike="noStrike" spc="-1" dirty="0">
                <a:solidFill>
                  <a:srgbClr val="000000"/>
                </a:solidFill>
                <a:latin typeface="Times New Roman"/>
                <a:ea typeface="Canva Sans"/>
              </a:rPr>
              <a:t>DISADVANTAGE OF EXISTING </a:t>
            </a:r>
          </a:p>
          <a:p>
            <a:pPr algn="ctr" defTabSz="914400">
              <a:lnSpc>
                <a:spcPct val="100000"/>
              </a:lnSpc>
            </a:pPr>
            <a:r>
              <a:rPr lang="en-US" sz="4000" b="1" strike="noStrike" spc="-1" dirty="0">
                <a:solidFill>
                  <a:srgbClr val="000000"/>
                </a:solidFill>
                <a:latin typeface="Times New Roman"/>
                <a:ea typeface="Canva Sans"/>
              </a:rPr>
              <a:t>SYSTEM</a:t>
            </a:r>
            <a:endParaRPr lang="en-IN" sz="4000" b="0" strike="noStrike" spc="-1" dirty="0">
              <a:solidFill>
                <a:srgbClr val="000000"/>
              </a:solidFill>
              <a:latin typeface="Arial"/>
            </a:endParaRPr>
          </a:p>
        </p:txBody>
      </p:sp>
      <p:sp>
        <p:nvSpPr>
          <p:cNvPr id="65" name="TextBox 2"/>
          <p:cNvSpPr/>
          <p:nvPr/>
        </p:nvSpPr>
        <p:spPr>
          <a:xfrm>
            <a:off x="1228320" y="2006640"/>
            <a:ext cx="9468000" cy="3911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endParaRPr lang="en-IN" sz="1800" b="0" strike="noStrike" spc="-1">
              <a:solidFill>
                <a:srgbClr val="000000"/>
              </a:solidFill>
              <a:latin typeface="Arial"/>
              <a:ea typeface="DejaVu Sans"/>
            </a:endParaRPr>
          </a:p>
        </p:txBody>
      </p:sp>
      <p:sp>
        <p:nvSpPr>
          <p:cNvPr id="66" name="Rectangle 65"/>
          <p:cNvSpPr/>
          <p:nvPr/>
        </p:nvSpPr>
        <p:spPr>
          <a:xfrm>
            <a:off x="1228320" y="1645394"/>
            <a:ext cx="9571320" cy="4133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IN" sz="2000" b="0" strike="noStrike" spc="-1" dirty="0">
              <a:solidFill>
                <a:srgbClr val="000000"/>
              </a:solidFill>
              <a:latin typeface="Arial"/>
            </a:endParaRPr>
          </a:p>
          <a:p>
            <a:pPr>
              <a:lnSpc>
                <a:spcPct val="100000"/>
              </a:lnSpc>
            </a:pPr>
            <a:r>
              <a:rPr lang="en-US" sz="2000" b="0" strike="noStrike" spc="-1" dirty="0">
                <a:solidFill>
                  <a:schemeClr val="dk1"/>
                </a:solidFill>
                <a:latin typeface="Times New Roman"/>
                <a:ea typeface="DejaVu Sans"/>
              </a:rPr>
              <a:t>1.No prediction of customer flow </a:t>
            </a:r>
            <a:endParaRPr lang="en-IN" sz="2000" b="0" strike="noStrike" spc="-1" dirty="0">
              <a:solidFill>
                <a:srgbClr val="000000"/>
              </a:solidFill>
              <a:latin typeface="Arial"/>
            </a:endParaRPr>
          </a:p>
          <a:p>
            <a:pPr>
              <a:lnSpc>
                <a:spcPct val="100000"/>
              </a:lnSpc>
            </a:pPr>
            <a:endParaRPr lang="en-IN" sz="2000" b="0" strike="noStrike" spc="-1" dirty="0">
              <a:solidFill>
                <a:srgbClr val="000000"/>
              </a:solidFill>
              <a:latin typeface="Arial"/>
            </a:endParaRPr>
          </a:p>
          <a:p>
            <a:pPr>
              <a:lnSpc>
                <a:spcPct val="100000"/>
              </a:lnSpc>
            </a:pPr>
            <a:r>
              <a:rPr lang="en-US" sz="2000" b="0" strike="noStrike" spc="-1" dirty="0">
                <a:solidFill>
                  <a:schemeClr val="dk1"/>
                </a:solidFill>
                <a:latin typeface="Times New Roman"/>
                <a:ea typeface="DejaVu Sans"/>
              </a:rPr>
              <a:t>2.Increased waiting time </a:t>
            </a:r>
            <a:endParaRPr lang="en-IN" sz="2000" b="0" strike="noStrike" spc="-1" dirty="0">
              <a:solidFill>
                <a:srgbClr val="000000"/>
              </a:solidFill>
              <a:latin typeface="Arial"/>
            </a:endParaRPr>
          </a:p>
          <a:p>
            <a:pPr>
              <a:lnSpc>
                <a:spcPct val="100000"/>
              </a:lnSpc>
            </a:pPr>
            <a:endParaRPr lang="en-IN" sz="2000" b="0" strike="noStrike" spc="-1" dirty="0">
              <a:solidFill>
                <a:srgbClr val="000000"/>
              </a:solidFill>
              <a:latin typeface="Arial"/>
            </a:endParaRPr>
          </a:p>
          <a:p>
            <a:pPr>
              <a:lnSpc>
                <a:spcPct val="100000"/>
              </a:lnSpc>
            </a:pPr>
            <a:r>
              <a:rPr lang="en-US" sz="2000" b="0" strike="noStrike" spc="-1" dirty="0">
                <a:solidFill>
                  <a:schemeClr val="dk1"/>
                </a:solidFill>
                <a:latin typeface="Times New Roman"/>
                <a:ea typeface="DejaVu Sans"/>
              </a:rPr>
              <a:t>3.Poor resource utilization </a:t>
            </a:r>
            <a:endParaRPr lang="en-IN" sz="2000" b="0" strike="noStrike" spc="-1" dirty="0">
              <a:solidFill>
                <a:srgbClr val="000000"/>
              </a:solidFill>
              <a:latin typeface="Arial"/>
            </a:endParaRPr>
          </a:p>
          <a:p>
            <a:pPr>
              <a:lnSpc>
                <a:spcPct val="100000"/>
              </a:lnSpc>
            </a:pPr>
            <a:endParaRPr lang="en-IN" sz="2000" b="0" strike="noStrike" spc="-1" dirty="0">
              <a:solidFill>
                <a:srgbClr val="000000"/>
              </a:solidFill>
              <a:latin typeface="Arial"/>
            </a:endParaRPr>
          </a:p>
          <a:p>
            <a:pPr>
              <a:lnSpc>
                <a:spcPct val="100000"/>
              </a:lnSpc>
            </a:pPr>
            <a:r>
              <a:rPr lang="en-US" sz="2000" b="0" strike="noStrike" spc="-1" dirty="0">
                <a:solidFill>
                  <a:schemeClr val="dk1"/>
                </a:solidFill>
                <a:latin typeface="Times New Roman"/>
                <a:ea typeface="DejaVu Sans"/>
              </a:rPr>
              <a:t>4.No real-time updates </a:t>
            </a:r>
            <a:endParaRPr lang="en-IN" sz="2000" b="0" strike="noStrike" spc="-1" dirty="0">
              <a:solidFill>
                <a:srgbClr val="000000"/>
              </a:solidFill>
              <a:latin typeface="Arial"/>
            </a:endParaRPr>
          </a:p>
          <a:p>
            <a:pPr>
              <a:lnSpc>
                <a:spcPct val="100000"/>
              </a:lnSpc>
            </a:pPr>
            <a:endParaRPr lang="en-IN" sz="2000" b="0" strike="noStrike" spc="-1" dirty="0">
              <a:solidFill>
                <a:srgbClr val="000000"/>
              </a:solidFill>
              <a:latin typeface="Arial"/>
            </a:endParaRPr>
          </a:p>
          <a:p>
            <a:pPr>
              <a:lnSpc>
                <a:spcPct val="100000"/>
              </a:lnSpc>
            </a:pPr>
            <a:r>
              <a:rPr lang="en-US" sz="2000" b="0" strike="noStrike" spc="-1" dirty="0">
                <a:solidFill>
                  <a:schemeClr val="dk1"/>
                </a:solidFill>
                <a:latin typeface="Times New Roman"/>
                <a:ea typeface="DejaVu Sans"/>
              </a:rPr>
              <a:t>5.Limited scalability </a:t>
            </a:r>
            <a:endParaRPr lang="en-IN" sz="2000" b="0" strike="noStrike" spc="-1" dirty="0">
              <a:solidFill>
                <a:srgbClr val="000000"/>
              </a:solidFill>
              <a:latin typeface="Arial"/>
            </a:endParaRPr>
          </a:p>
          <a:p>
            <a:pPr>
              <a:lnSpc>
                <a:spcPct val="100000"/>
              </a:lnSpc>
            </a:pPr>
            <a:endParaRPr lang="en-IN" sz="2000" b="0" strike="noStrike" spc="-1" dirty="0">
              <a:solidFill>
                <a:srgbClr val="000000"/>
              </a:solidFill>
              <a:latin typeface="Arial"/>
            </a:endParaRPr>
          </a:p>
          <a:p>
            <a:pPr>
              <a:lnSpc>
                <a:spcPct val="100000"/>
              </a:lnSpc>
            </a:pPr>
            <a:r>
              <a:rPr lang="en-US" sz="2000" b="0" strike="noStrike" spc="-1" dirty="0">
                <a:solidFill>
                  <a:schemeClr val="dk1"/>
                </a:solidFill>
                <a:latin typeface="Times New Roman"/>
                <a:ea typeface="DejaVu Sans"/>
              </a:rPr>
              <a:t>6.No personalized services </a:t>
            </a:r>
            <a:endParaRPr lang="en-IN" sz="2000" b="0" strike="noStrike" spc="-1" dirty="0">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angle 66"/>
          <p:cNvSpPr/>
          <p:nvPr/>
        </p:nvSpPr>
        <p:spPr>
          <a:xfrm>
            <a:off x="1049154" y="1443788"/>
            <a:ext cx="9933271" cy="485513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000" b="1" strike="noStrike" spc="-1" dirty="0">
                <a:solidFill>
                  <a:schemeClr val="dk1"/>
                </a:solidFill>
                <a:latin typeface="Times New Roman"/>
                <a:ea typeface="DejaVu Sans"/>
              </a:rPr>
              <a:t>Online Appointment Booking:</a:t>
            </a:r>
            <a:br>
              <a:rPr sz="2000" dirty="0"/>
            </a:br>
            <a:r>
              <a:rPr lang="en-US" sz="2000" b="0" strike="noStrike" spc="-1" dirty="0">
                <a:solidFill>
                  <a:schemeClr val="dk1"/>
                </a:solidFill>
                <a:latin typeface="Times New Roman"/>
                <a:ea typeface="DejaVu Sans"/>
              </a:rPr>
              <a:t>Customers can schedule appointments easily based on available time slots through an online platform.</a:t>
            </a:r>
            <a:endParaRPr lang="en-IN" sz="2000" b="0" strike="noStrike" spc="-1" dirty="0">
              <a:solidFill>
                <a:srgbClr val="000000"/>
              </a:solidFill>
              <a:latin typeface="Arial"/>
            </a:endParaRPr>
          </a:p>
          <a:p>
            <a:pPr>
              <a:lnSpc>
                <a:spcPct val="100000"/>
              </a:lnSpc>
            </a:pPr>
            <a:endParaRPr lang="en-IN" sz="2000" b="0" strike="noStrike" spc="-1" dirty="0">
              <a:solidFill>
                <a:srgbClr val="000000"/>
              </a:solidFill>
              <a:latin typeface="Arial"/>
            </a:endParaRPr>
          </a:p>
          <a:p>
            <a:pPr>
              <a:lnSpc>
                <a:spcPct val="100000"/>
              </a:lnSpc>
            </a:pPr>
            <a:r>
              <a:rPr lang="en-US" sz="2000" b="1" strike="noStrike" spc="-1" dirty="0">
                <a:solidFill>
                  <a:schemeClr val="dk1"/>
                </a:solidFill>
                <a:latin typeface="Times New Roman"/>
                <a:ea typeface="DejaVu Sans"/>
              </a:rPr>
              <a:t>Deep Learning Integration:</a:t>
            </a:r>
            <a:br>
              <a:rPr sz="2000" dirty="0"/>
            </a:br>
            <a:r>
              <a:rPr lang="en-US" sz="2000" b="0" strike="noStrike" spc="-1" dirty="0">
                <a:solidFill>
                  <a:schemeClr val="dk1"/>
                </a:solidFill>
                <a:latin typeface="Times New Roman"/>
                <a:ea typeface="DejaVu Sans"/>
              </a:rPr>
              <a:t>Deep learning models analyze historical data to predict peak hours, customer arrival patterns, and service duration more accurately.</a:t>
            </a:r>
            <a:endParaRPr lang="en-IN" sz="2000" b="0" strike="noStrike" spc="-1" dirty="0">
              <a:solidFill>
                <a:srgbClr val="000000"/>
              </a:solidFill>
              <a:latin typeface="Arial"/>
            </a:endParaRPr>
          </a:p>
          <a:p>
            <a:pPr>
              <a:lnSpc>
                <a:spcPct val="100000"/>
              </a:lnSpc>
            </a:pPr>
            <a:endParaRPr lang="en-IN" sz="2000" b="0" strike="noStrike" spc="-1" dirty="0">
              <a:solidFill>
                <a:srgbClr val="000000"/>
              </a:solidFill>
              <a:latin typeface="Arial"/>
            </a:endParaRPr>
          </a:p>
          <a:p>
            <a:pPr>
              <a:lnSpc>
                <a:spcPct val="100000"/>
              </a:lnSpc>
            </a:pPr>
            <a:r>
              <a:rPr lang="en-US" sz="2000" b="1" strike="noStrike" spc="-1" dirty="0">
                <a:solidFill>
                  <a:schemeClr val="dk1"/>
                </a:solidFill>
                <a:latin typeface="Times New Roman"/>
                <a:ea typeface="DejaVu Sans"/>
              </a:rPr>
              <a:t>Smart Queue Management:</a:t>
            </a:r>
            <a:br>
              <a:rPr sz="2000" dirty="0"/>
            </a:br>
            <a:r>
              <a:rPr lang="en-US" sz="2000" b="0" strike="noStrike" spc="-1" dirty="0">
                <a:solidFill>
                  <a:schemeClr val="dk1"/>
                </a:solidFill>
                <a:latin typeface="Times New Roman"/>
                <a:ea typeface="DejaVu Sans"/>
              </a:rPr>
              <a:t>The system optimizes appointment schedules to reduce waiting time and manage customer flow efficiently.</a:t>
            </a:r>
            <a:endParaRPr lang="en-IN" sz="2000" b="0" strike="noStrike" spc="-1" dirty="0">
              <a:solidFill>
                <a:srgbClr val="000000"/>
              </a:solidFill>
              <a:latin typeface="Arial"/>
            </a:endParaRPr>
          </a:p>
          <a:p>
            <a:pPr>
              <a:lnSpc>
                <a:spcPct val="100000"/>
              </a:lnSpc>
            </a:pPr>
            <a:endParaRPr lang="en-IN" sz="2000" b="0" strike="noStrike" spc="-1" dirty="0">
              <a:solidFill>
                <a:srgbClr val="000000"/>
              </a:solidFill>
              <a:latin typeface="Arial"/>
            </a:endParaRPr>
          </a:p>
          <a:p>
            <a:pPr>
              <a:lnSpc>
                <a:spcPct val="100000"/>
              </a:lnSpc>
            </a:pPr>
            <a:r>
              <a:rPr lang="en-US" sz="2000" b="1" strike="noStrike" spc="-1" dirty="0">
                <a:solidFill>
                  <a:schemeClr val="dk1"/>
                </a:solidFill>
                <a:latin typeface="Times New Roman"/>
                <a:ea typeface="DejaVu Sans"/>
              </a:rPr>
              <a:t>Secure Data Storage:</a:t>
            </a:r>
            <a:br>
              <a:rPr sz="2000" dirty="0"/>
            </a:br>
            <a:r>
              <a:rPr lang="en-US" sz="2000" b="0" strike="noStrike" spc="-1" dirty="0">
                <a:solidFill>
                  <a:schemeClr val="dk1"/>
                </a:solidFill>
                <a:latin typeface="Times New Roman"/>
                <a:ea typeface="DejaVu Sans"/>
              </a:rPr>
              <a:t>Ensures safe and reliable handling of customer data with proper security mechanisms.</a:t>
            </a:r>
            <a:endParaRPr lang="en-IN" sz="2000" b="0" strike="noStrike" spc="-1" dirty="0">
              <a:solidFill>
                <a:srgbClr val="000000"/>
              </a:solidFill>
              <a:latin typeface="Arial"/>
            </a:endParaRPr>
          </a:p>
          <a:p>
            <a:pPr>
              <a:lnSpc>
                <a:spcPct val="100000"/>
              </a:lnSpc>
            </a:pPr>
            <a:endParaRPr lang="en-IN" sz="2000" b="0" strike="noStrike" spc="-1" dirty="0">
              <a:solidFill>
                <a:srgbClr val="000000"/>
              </a:solidFill>
              <a:latin typeface="Arial"/>
            </a:endParaRPr>
          </a:p>
        </p:txBody>
      </p:sp>
      <p:sp>
        <p:nvSpPr>
          <p:cNvPr id="68" name="Rectangle 67"/>
          <p:cNvSpPr/>
          <p:nvPr/>
        </p:nvSpPr>
        <p:spPr>
          <a:xfrm>
            <a:off x="2947680" y="360000"/>
            <a:ext cx="6411960" cy="79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4000" b="1" strike="noStrike" spc="-1" dirty="0">
                <a:solidFill>
                  <a:srgbClr val="000000"/>
                </a:solidFill>
                <a:latin typeface="Times New Roman"/>
                <a:ea typeface="Canva Sans"/>
              </a:rPr>
              <a:t>PROPOSED SYSTEM</a:t>
            </a:r>
            <a:endParaRPr lang="en-IN" sz="4000" b="0" strike="noStrike" spc="-1" dirty="0">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TextBox 1"/>
          <p:cNvSpPr/>
          <p:nvPr/>
        </p:nvSpPr>
        <p:spPr>
          <a:xfrm>
            <a:off x="2373480" y="144720"/>
            <a:ext cx="8268840" cy="70643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4000" b="1" strike="noStrike" spc="-1" dirty="0">
                <a:solidFill>
                  <a:srgbClr val="000000"/>
                </a:solidFill>
                <a:latin typeface="Times New Roman"/>
                <a:ea typeface="Canva Sans"/>
              </a:rPr>
              <a:t>SYSTEM ARCHITECTURE</a:t>
            </a:r>
            <a:endParaRPr lang="en-IN" sz="4000" b="0" strike="noStrike" spc="-1" dirty="0">
              <a:solidFill>
                <a:srgbClr val="000000"/>
              </a:solidFill>
              <a:latin typeface="Arial"/>
            </a:endParaRPr>
          </a:p>
        </p:txBody>
      </p:sp>
      <p:pic>
        <p:nvPicPr>
          <p:cNvPr id="70" name="Picture 5"/>
          <p:cNvPicPr/>
          <p:nvPr/>
        </p:nvPicPr>
        <p:blipFill>
          <a:blip r:embed="rId2"/>
          <a:stretch/>
        </p:blipFill>
        <p:spPr>
          <a:xfrm>
            <a:off x="1746720" y="1134360"/>
            <a:ext cx="8530560" cy="5723280"/>
          </a:xfrm>
          <a:prstGeom prst="rect">
            <a:avLst/>
          </a:prstGeom>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TextBox 1"/>
          <p:cNvSpPr/>
          <p:nvPr/>
        </p:nvSpPr>
        <p:spPr>
          <a:xfrm>
            <a:off x="4109400" y="440640"/>
            <a:ext cx="3859200" cy="70643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IN" sz="4000" b="1" strike="noStrike" spc="-1" dirty="0">
                <a:solidFill>
                  <a:schemeClr val="dk1"/>
                </a:solidFill>
                <a:latin typeface="Times New Roman"/>
                <a:ea typeface="DejaVu Sans"/>
              </a:rPr>
              <a:t>MODULES</a:t>
            </a:r>
            <a:endParaRPr lang="en-IN" sz="4000" b="0" strike="noStrike" spc="-1" dirty="0">
              <a:solidFill>
                <a:srgbClr val="000000"/>
              </a:solidFill>
              <a:latin typeface="Arial"/>
            </a:endParaRPr>
          </a:p>
        </p:txBody>
      </p:sp>
      <p:sp>
        <p:nvSpPr>
          <p:cNvPr id="72" name="TextBox 2"/>
          <p:cNvSpPr/>
          <p:nvPr/>
        </p:nvSpPr>
        <p:spPr>
          <a:xfrm>
            <a:off x="3305160" y="1817640"/>
            <a:ext cx="5264640" cy="353797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2800" b="0" strike="noStrike" spc="-1" dirty="0">
                <a:solidFill>
                  <a:schemeClr val="dk1"/>
                </a:solidFill>
                <a:latin typeface="Times New Roman"/>
                <a:ea typeface="DejaVu Sans"/>
              </a:rPr>
              <a:t>1.Register</a:t>
            </a:r>
            <a:endParaRPr lang="en-IN" sz="2800" b="0" strike="noStrike" spc="-1" dirty="0">
              <a:solidFill>
                <a:srgbClr val="000000"/>
              </a:solidFill>
              <a:latin typeface="Arial"/>
            </a:endParaRPr>
          </a:p>
          <a:p>
            <a:pPr defTabSz="914400">
              <a:lnSpc>
                <a:spcPct val="100000"/>
              </a:lnSpc>
            </a:pPr>
            <a:r>
              <a:rPr lang="en-IN" sz="2800" b="0" strike="noStrike" spc="-1" dirty="0">
                <a:solidFill>
                  <a:schemeClr val="dk1"/>
                </a:solidFill>
                <a:latin typeface="Times New Roman"/>
                <a:ea typeface="DejaVu Sans"/>
              </a:rPr>
              <a:t>2.Log in</a:t>
            </a:r>
            <a:endParaRPr lang="en-IN" sz="2800" b="0" strike="noStrike" spc="-1" dirty="0">
              <a:solidFill>
                <a:srgbClr val="000000"/>
              </a:solidFill>
              <a:latin typeface="Arial"/>
            </a:endParaRPr>
          </a:p>
          <a:p>
            <a:pPr defTabSz="914400">
              <a:lnSpc>
                <a:spcPct val="100000"/>
              </a:lnSpc>
            </a:pPr>
            <a:r>
              <a:rPr lang="en-IN" sz="2800" b="0" strike="noStrike" spc="-1" dirty="0">
                <a:solidFill>
                  <a:schemeClr val="dk1"/>
                </a:solidFill>
                <a:latin typeface="Times New Roman"/>
                <a:ea typeface="DejaVu Sans"/>
              </a:rPr>
              <a:t>3.Book Appointment</a:t>
            </a:r>
            <a:endParaRPr lang="en-IN" sz="2800" b="0" strike="noStrike" spc="-1" dirty="0">
              <a:solidFill>
                <a:srgbClr val="000000"/>
              </a:solidFill>
              <a:latin typeface="Arial"/>
            </a:endParaRPr>
          </a:p>
          <a:p>
            <a:pPr defTabSz="914400">
              <a:lnSpc>
                <a:spcPct val="100000"/>
              </a:lnSpc>
            </a:pPr>
            <a:r>
              <a:rPr lang="en-IN" sz="2800" b="0" strike="noStrike" spc="-1" dirty="0">
                <a:solidFill>
                  <a:schemeClr val="dk1"/>
                </a:solidFill>
                <a:latin typeface="Times New Roman"/>
                <a:ea typeface="DejaVu Sans"/>
              </a:rPr>
              <a:t>4.Modify Appointment</a:t>
            </a:r>
            <a:endParaRPr lang="en-IN" sz="2800" b="0" strike="noStrike" spc="-1" dirty="0">
              <a:solidFill>
                <a:srgbClr val="000000"/>
              </a:solidFill>
              <a:latin typeface="Arial"/>
            </a:endParaRPr>
          </a:p>
          <a:p>
            <a:pPr defTabSz="914400">
              <a:lnSpc>
                <a:spcPct val="100000"/>
              </a:lnSpc>
            </a:pPr>
            <a:r>
              <a:rPr lang="en-IN" sz="2800" b="0" strike="noStrike" spc="-1" dirty="0">
                <a:solidFill>
                  <a:schemeClr val="dk1"/>
                </a:solidFill>
                <a:latin typeface="Times New Roman"/>
                <a:ea typeface="DejaVu Sans"/>
              </a:rPr>
              <a:t>5.Cancel Appointment</a:t>
            </a:r>
            <a:endParaRPr lang="en-IN" sz="2800" b="0" strike="noStrike" spc="-1" dirty="0">
              <a:solidFill>
                <a:srgbClr val="000000"/>
              </a:solidFill>
              <a:latin typeface="Arial"/>
            </a:endParaRPr>
          </a:p>
          <a:p>
            <a:pPr defTabSz="914400">
              <a:lnSpc>
                <a:spcPct val="100000"/>
              </a:lnSpc>
            </a:pPr>
            <a:r>
              <a:rPr lang="en-IN" sz="2800" b="0" strike="noStrike" spc="-1" dirty="0">
                <a:solidFill>
                  <a:schemeClr val="dk1"/>
                </a:solidFill>
                <a:latin typeface="Times New Roman"/>
                <a:ea typeface="DejaVu Sans"/>
              </a:rPr>
              <a:t>6.Admin Dashboard</a:t>
            </a:r>
            <a:endParaRPr lang="en-IN" sz="2800" b="0" strike="noStrike" spc="-1" dirty="0">
              <a:solidFill>
                <a:srgbClr val="000000"/>
              </a:solidFill>
              <a:latin typeface="Arial"/>
            </a:endParaRPr>
          </a:p>
          <a:p>
            <a:pPr defTabSz="914400">
              <a:lnSpc>
                <a:spcPct val="100000"/>
              </a:lnSpc>
            </a:pPr>
            <a:r>
              <a:rPr lang="en-IN" sz="2800" b="0" strike="noStrike" spc="-1" dirty="0">
                <a:solidFill>
                  <a:schemeClr val="dk1"/>
                </a:solidFill>
                <a:latin typeface="Times New Roman"/>
                <a:ea typeface="DejaVu Sans"/>
              </a:rPr>
              <a:t>7.Log out</a:t>
            </a:r>
            <a:endParaRPr lang="en-IN" sz="2800" b="0" strike="noStrike" spc="-1" dirty="0">
              <a:solidFill>
                <a:srgbClr val="000000"/>
              </a:solidFill>
              <a:latin typeface="Arial"/>
            </a:endParaRPr>
          </a:p>
          <a:p>
            <a:pPr defTabSz="914400">
              <a:lnSpc>
                <a:spcPct val="100000"/>
              </a:lnSpc>
            </a:pPr>
            <a:r>
              <a:rPr lang="en-IN" sz="2800" b="0" strike="noStrike" spc="-1" dirty="0">
                <a:solidFill>
                  <a:schemeClr val="dk1"/>
                </a:solidFill>
                <a:latin typeface="Times New Roman"/>
                <a:ea typeface="DejaVu Sans"/>
              </a:rPr>
              <a:t> </a:t>
            </a:r>
            <a:endParaRPr lang="en-IN" sz="2800" b="0" strike="noStrike" spc="-1" dirty="0">
              <a:solidFill>
                <a:srgbClr val="00000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TextBox 1"/>
          <p:cNvSpPr/>
          <p:nvPr/>
        </p:nvSpPr>
        <p:spPr>
          <a:xfrm>
            <a:off x="764280" y="1090080"/>
            <a:ext cx="3248640" cy="54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endParaRPr lang="en-IN" sz="1800" b="0" strike="noStrike" spc="-1">
              <a:solidFill>
                <a:srgbClr val="000000"/>
              </a:solidFill>
              <a:latin typeface="Arial"/>
              <a:ea typeface="DejaVu Sans"/>
            </a:endParaRPr>
          </a:p>
        </p:txBody>
      </p:sp>
      <p:sp>
        <p:nvSpPr>
          <p:cNvPr id="74" name="TextBox 2"/>
          <p:cNvSpPr/>
          <p:nvPr/>
        </p:nvSpPr>
        <p:spPr>
          <a:xfrm>
            <a:off x="4329720" y="319320"/>
            <a:ext cx="3472560" cy="70643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IN" sz="4000" b="1" strike="noStrike" spc="-1" dirty="0">
                <a:solidFill>
                  <a:schemeClr val="dk1"/>
                </a:solidFill>
                <a:latin typeface="Times New Roman"/>
                <a:ea typeface="DejaVu Sans"/>
              </a:rPr>
              <a:t>REGISTER</a:t>
            </a:r>
            <a:endParaRPr lang="en-IN" sz="4000" b="0" strike="noStrike" spc="-1" dirty="0">
              <a:solidFill>
                <a:srgbClr val="000000"/>
              </a:solidFill>
              <a:latin typeface="Arial"/>
            </a:endParaRPr>
          </a:p>
        </p:txBody>
      </p:sp>
      <p:sp>
        <p:nvSpPr>
          <p:cNvPr id="75" name="TextBox 3"/>
          <p:cNvSpPr/>
          <p:nvPr/>
        </p:nvSpPr>
        <p:spPr>
          <a:xfrm>
            <a:off x="1152720" y="1637640"/>
            <a:ext cx="10493280" cy="1613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endParaRPr lang="en-IN" sz="1800" b="0" strike="noStrike" spc="-1">
              <a:solidFill>
                <a:srgbClr val="000000"/>
              </a:solidFill>
              <a:latin typeface="Arial"/>
              <a:ea typeface="DejaVu Sans"/>
            </a:endParaRPr>
          </a:p>
        </p:txBody>
      </p:sp>
      <p:sp>
        <p:nvSpPr>
          <p:cNvPr id="76" name="TextBox 5"/>
          <p:cNvSpPr/>
          <p:nvPr/>
        </p:nvSpPr>
        <p:spPr>
          <a:xfrm>
            <a:off x="1152720" y="2861280"/>
            <a:ext cx="10882080" cy="5027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1371600" anchor="t">
            <a:spAutoFit/>
          </a:bodyPr>
          <a:lstStyle/>
          <a:p>
            <a:endParaRPr lang="en-IN" sz="1800" b="0" strike="noStrike" spc="-1">
              <a:solidFill>
                <a:srgbClr val="000000"/>
              </a:solidFill>
              <a:latin typeface="Arial"/>
              <a:ea typeface="DejaVu Sans"/>
            </a:endParaRPr>
          </a:p>
        </p:txBody>
      </p:sp>
      <p:sp>
        <p:nvSpPr>
          <p:cNvPr id="77" name="Rectangle 76"/>
          <p:cNvSpPr/>
          <p:nvPr/>
        </p:nvSpPr>
        <p:spPr>
          <a:xfrm>
            <a:off x="1058778" y="1440000"/>
            <a:ext cx="9904397" cy="5487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IN" sz="2000" b="1" strike="noStrike" spc="-1" dirty="0">
                <a:solidFill>
                  <a:srgbClr val="000000"/>
                </a:solidFill>
                <a:latin typeface="Times New Roman"/>
              </a:rPr>
              <a:t>Objective:</a:t>
            </a:r>
            <a:endParaRPr lang="en-IN" sz="2000" b="0" strike="noStrike" spc="-1" dirty="0">
              <a:solidFill>
                <a:srgbClr val="000000"/>
              </a:solidFill>
              <a:latin typeface="Arial"/>
            </a:endParaRPr>
          </a:p>
          <a:p>
            <a:pPr>
              <a:lnSpc>
                <a:spcPct val="100000"/>
              </a:lnSpc>
            </a:pPr>
            <a:r>
              <a:rPr lang="en-IN" sz="2000" b="0" strike="noStrike" spc="-1" dirty="0">
                <a:solidFill>
                  <a:srgbClr val="000000"/>
                </a:solidFill>
                <a:latin typeface="Times New Roman"/>
              </a:rPr>
              <a:t>	Allows users to create an account for booking and managing bank appointments with enhanced security using Deep Learning.</a:t>
            </a:r>
          </a:p>
          <a:p>
            <a:pPr>
              <a:lnSpc>
                <a:spcPct val="100000"/>
              </a:lnSpc>
            </a:pPr>
            <a:endParaRPr lang="en-IN" sz="2000" b="0" strike="noStrike" spc="-1" dirty="0">
              <a:solidFill>
                <a:srgbClr val="000000"/>
              </a:solidFill>
              <a:latin typeface="Arial"/>
            </a:endParaRPr>
          </a:p>
          <a:p>
            <a:pPr>
              <a:lnSpc>
                <a:spcPct val="100000"/>
              </a:lnSpc>
            </a:pPr>
            <a:r>
              <a:rPr lang="en-IN" sz="2000" b="1" strike="noStrike" spc="-1" dirty="0">
                <a:solidFill>
                  <a:srgbClr val="000000"/>
                </a:solidFill>
                <a:latin typeface="Times New Roman"/>
              </a:rPr>
              <a:t>Name</a:t>
            </a:r>
            <a:r>
              <a:rPr lang="en-IN" sz="2000" b="0" strike="noStrike" spc="-1" dirty="0">
                <a:solidFill>
                  <a:srgbClr val="000000"/>
                </a:solidFill>
                <a:latin typeface="Times New Roman"/>
              </a:rPr>
              <a:t>:</a:t>
            </a:r>
            <a:endParaRPr lang="en-IN" sz="2000" b="0" strike="noStrike" spc="-1" dirty="0">
              <a:solidFill>
                <a:srgbClr val="000000"/>
              </a:solidFill>
              <a:latin typeface="Arial"/>
            </a:endParaRPr>
          </a:p>
          <a:p>
            <a:pPr>
              <a:lnSpc>
                <a:spcPct val="100000"/>
              </a:lnSpc>
            </a:pPr>
            <a:r>
              <a:rPr lang="en-IN" sz="2000" spc="-1" dirty="0">
                <a:solidFill>
                  <a:srgbClr val="000000"/>
                </a:solidFill>
                <a:latin typeface="Times New Roman"/>
              </a:rPr>
              <a:t>	</a:t>
            </a:r>
            <a:r>
              <a:rPr lang="en-IN" sz="2000" b="0" strike="noStrike" spc="-1" dirty="0">
                <a:solidFill>
                  <a:srgbClr val="000000"/>
                </a:solidFill>
                <a:latin typeface="Times New Roman"/>
              </a:rPr>
              <a:t>Collects user name for identification and personalization.</a:t>
            </a:r>
          </a:p>
          <a:p>
            <a:pPr>
              <a:lnSpc>
                <a:spcPct val="100000"/>
              </a:lnSpc>
            </a:pPr>
            <a:endParaRPr lang="en-IN" sz="2000" b="0" strike="noStrike" spc="-1" dirty="0">
              <a:solidFill>
                <a:srgbClr val="000000"/>
              </a:solidFill>
              <a:latin typeface="Arial"/>
            </a:endParaRPr>
          </a:p>
          <a:p>
            <a:pPr>
              <a:lnSpc>
                <a:spcPct val="100000"/>
              </a:lnSpc>
            </a:pPr>
            <a:r>
              <a:rPr lang="en-IN" sz="2000" b="1" strike="noStrike" spc="-1" dirty="0">
                <a:solidFill>
                  <a:srgbClr val="000000"/>
                </a:solidFill>
                <a:latin typeface="Times New Roman"/>
              </a:rPr>
              <a:t>Email / Mobile Number:</a:t>
            </a:r>
            <a:endParaRPr lang="en-IN" sz="2000" b="0" strike="noStrike" spc="-1" dirty="0">
              <a:solidFill>
                <a:srgbClr val="000000"/>
              </a:solidFill>
              <a:latin typeface="Arial"/>
            </a:endParaRPr>
          </a:p>
          <a:p>
            <a:pPr>
              <a:lnSpc>
                <a:spcPct val="100000"/>
              </a:lnSpc>
            </a:pPr>
            <a:r>
              <a:rPr lang="en-IN" sz="2000" b="0" strike="noStrike" spc="-1" dirty="0">
                <a:solidFill>
                  <a:srgbClr val="000000"/>
                </a:solidFill>
                <a:latin typeface="Times New Roman"/>
              </a:rPr>
              <a:t>	Used for OTP verification and </a:t>
            </a:r>
            <a:r>
              <a:rPr lang="en-IN" sz="2000" b="0" strike="noStrike" spc="-1" dirty="0" err="1">
                <a:solidFill>
                  <a:srgbClr val="000000"/>
                </a:solidFill>
                <a:latin typeface="Times New Roman"/>
              </a:rPr>
              <a:t>notifications.Deep</a:t>
            </a:r>
            <a:r>
              <a:rPr lang="en-IN" sz="2000" b="0" strike="noStrike" spc="-1" dirty="0">
                <a:solidFill>
                  <a:srgbClr val="000000"/>
                </a:solidFill>
                <a:latin typeface="Times New Roman"/>
              </a:rPr>
              <a:t> Learning helps detect fake or duplicate registrations.</a:t>
            </a:r>
          </a:p>
          <a:p>
            <a:pPr>
              <a:lnSpc>
                <a:spcPct val="100000"/>
              </a:lnSpc>
            </a:pPr>
            <a:endParaRPr lang="en-IN" sz="2000" b="0" strike="noStrike" spc="-1" dirty="0">
              <a:solidFill>
                <a:srgbClr val="000000"/>
              </a:solidFill>
              <a:latin typeface="Arial"/>
            </a:endParaRPr>
          </a:p>
          <a:p>
            <a:pPr>
              <a:lnSpc>
                <a:spcPct val="100000"/>
              </a:lnSpc>
            </a:pPr>
            <a:r>
              <a:rPr lang="en-IN" sz="2000" b="1" strike="noStrike" spc="-1" dirty="0">
                <a:solidFill>
                  <a:srgbClr val="000000"/>
                </a:solidFill>
                <a:latin typeface="Times New Roman"/>
              </a:rPr>
              <a:t>Password:</a:t>
            </a:r>
            <a:endParaRPr lang="en-IN" sz="2000" b="0" strike="noStrike" spc="-1" dirty="0">
              <a:solidFill>
                <a:srgbClr val="000000"/>
              </a:solidFill>
              <a:latin typeface="Arial"/>
            </a:endParaRPr>
          </a:p>
          <a:p>
            <a:pPr>
              <a:lnSpc>
                <a:spcPct val="100000"/>
              </a:lnSpc>
            </a:pPr>
            <a:r>
              <a:rPr lang="en-IN" sz="2000" b="0" strike="noStrike" spc="-1" dirty="0">
                <a:solidFill>
                  <a:srgbClr val="000000"/>
                </a:solidFill>
                <a:latin typeface="Times New Roman"/>
              </a:rPr>
              <a:t>	Ensures secure access with strong validation. Deep Learning detects unusual registration </a:t>
            </a:r>
            <a:r>
              <a:rPr lang="en-IN" sz="2000" b="0" strike="noStrike" spc="-1" dirty="0" err="1">
                <a:solidFill>
                  <a:srgbClr val="000000"/>
                </a:solidFill>
                <a:latin typeface="Times New Roman"/>
              </a:rPr>
              <a:t>behavior</a:t>
            </a:r>
            <a:r>
              <a:rPr lang="en-IN" sz="2000" b="0" strike="noStrike" spc="-1" dirty="0">
                <a:solidFill>
                  <a:srgbClr val="000000"/>
                </a:solidFill>
                <a:latin typeface="Times New Roman"/>
              </a:rPr>
              <a:t>.</a:t>
            </a:r>
            <a:endParaRPr lang="en-IN" sz="2000" b="0" strike="noStrike" spc="-1" dirty="0">
              <a:solidFill>
                <a:srgbClr val="000000"/>
              </a:solidFill>
              <a:latin typeface="Arial"/>
            </a:endParaRPr>
          </a:p>
          <a:p>
            <a:pPr>
              <a:lnSpc>
                <a:spcPct val="100000"/>
              </a:lnSpc>
            </a:pPr>
            <a:endParaRPr lang="en-IN" sz="2000" b="0" strike="noStrike" spc="-1" dirty="0">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TextBox 1"/>
          <p:cNvSpPr/>
          <p:nvPr/>
        </p:nvSpPr>
        <p:spPr>
          <a:xfrm>
            <a:off x="4664520" y="282960"/>
            <a:ext cx="2861640" cy="70643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4000" b="1" strike="noStrike" spc="-1" dirty="0">
                <a:solidFill>
                  <a:srgbClr val="000000"/>
                </a:solidFill>
                <a:latin typeface="Times New Roman"/>
                <a:ea typeface="Canva Sans"/>
              </a:rPr>
              <a:t>LOG IN</a:t>
            </a:r>
            <a:endParaRPr lang="en-IN" sz="4000" b="0" strike="noStrike" spc="-1" dirty="0">
              <a:solidFill>
                <a:srgbClr val="000000"/>
              </a:solidFill>
              <a:latin typeface="Arial"/>
            </a:endParaRPr>
          </a:p>
        </p:txBody>
      </p:sp>
      <p:sp>
        <p:nvSpPr>
          <p:cNvPr id="79" name="TextBox 4"/>
          <p:cNvSpPr/>
          <p:nvPr/>
        </p:nvSpPr>
        <p:spPr>
          <a:xfrm>
            <a:off x="1058779" y="940150"/>
            <a:ext cx="9985580" cy="532308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914400">
              <a:lnSpc>
                <a:spcPct val="100000"/>
              </a:lnSpc>
            </a:pPr>
            <a:r>
              <a:rPr lang="en-US" sz="2000" b="1" strike="noStrike" spc="-1" dirty="0">
                <a:solidFill>
                  <a:schemeClr val="dk1"/>
                </a:solidFill>
                <a:latin typeface="Times New Roman"/>
                <a:ea typeface="DejaVu Sans"/>
              </a:rPr>
              <a:t>Authentication:</a:t>
            </a:r>
            <a:endParaRPr lang="en-IN" sz="2000" b="0" strike="noStrike" spc="-1" dirty="0">
              <a:solidFill>
                <a:srgbClr val="000000"/>
              </a:solidFill>
              <a:latin typeface="Arial"/>
            </a:endParaRPr>
          </a:p>
          <a:p>
            <a:pPr defTabSz="914400">
              <a:lnSpc>
                <a:spcPct val="100000"/>
              </a:lnSpc>
            </a:pPr>
            <a:r>
              <a:rPr lang="en-US" sz="2000" b="0" strike="noStrike" spc="-1" dirty="0">
                <a:solidFill>
                  <a:schemeClr val="dk1"/>
                </a:solidFill>
                <a:latin typeface="Times New Roman"/>
                <a:ea typeface="DejaVu Sans"/>
              </a:rPr>
              <a:t>                  Users enter their registered email or mobile number along with password to access the bank appointment system securely.</a:t>
            </a:r>
            <a:endParaRPr lang="en-IN" sz="2000" b="0" strike="noStrike" spc="-1" dirty="0">
              <a:solidFill>
                <a:srgbClr val="000000"/>
              </a:solidFill>
              <a:latin typeface="Arial"/>
            </a:endParaRPr>
          </a:p>
          <a:p>
            <a:pPr defTabSz="914400">
              <a:lnSpc>
                <a:spcPct val="100000"/>
              </a:lnSpc>
            </a:pPr>
            <a:endParaRPr lang="en-IN" sz="2000" b="0" strike="noStrike" spc="-1" dirty="0">
              <a:solidFill>
                <a:srgbClr val="000000"/>
              </a:solidFill>
              <a:latin typeface="Arial"/>
            </a:endParaRPr>
          </a:p>
          <a:p>
            <a:pPr defTabSz="914400">
              <a:lnSpc>
                <a:spcPct val="100000"/>
              </a:lnSpc>
            </a:pPr>
            <a:r>
              <a:rPr lang="en-US" sz="2000" b="1" strike="noStrike" spc="-1" dirty="0">
                <a:solidFill>
                  <a:schemeClr val="dk1"/>
                </a:solidFill>
                <a:latin typeface="Times New Roman"/>
                <a:ea typeface="DejaVu Sans"/>
              </a:rPr>
              <a:t>User Verification:</a:t>
            </a:r>
            <a:endParaRPr lang="en-IN" sz="2000" b="0" strike="noStrike" spc="-1" dirty="0">
              <a:solidFill>
                <a:srgbClr val="000000"/>
              </a:solidFill>
              <a:latin typeface="Arial"/>
            </a:endParaRPr>
          </a:p>
          <a:p>
            <a:pPr defTabSz="914400">
              <a:lnSpc>
                <a:spcPct val="100000"/>
              </a:lnSpc>
            </a:pPr>
            <a:r>
              <a:rPr lang="en-US" sz="2000" b="0" strike="noStrike" spc="-1" dirty="0">
                <a:solidFill>
                  <a:schemeClr val="dk1"/>
                </a:solidFill>
                <a:latin typeface="Times New Roman"/>
                <a:ea typeface="DejaVu Sans"/>
              </a:rPr>
              <a:t>                  The system verifies credentials using secure validation methods and may include OTP or multi-factor authentication for added security.</a:t>
            </a:r>
            <a:br>
              <a:rPr sz="2000" dirty="0"/>
            </a:br>
            <a:endParaRPr lang="en-IN" sz="2000" b="0" strike="noStrike" spc="-1" dirty="0">
              <a:solidFill>
                <a:srgbClr val="000000"/>
              </a:solidFill>
              <a:latin typeface="Arial"/>
            </a:endParaRPr>
          </a:p>
          <a:p>
            <a:pPr defTabSz="914400">
              <a:lnSpc>
                <a:spcPct val="100000"/>
              </a:lnSpc>
            </a:pPr>
            <a:r>
              <a:rPr lang="en-US" sz="2000" b="1" strike="noStrike" spc="-1" dirty="0">
                <a:solidFill>
                  <a:schemeClr val="dk1"/>
                </a:solidFill>
                <a:latin typeface="Times New Roman"/>
                <a:ea typeface="DejaVu Sans"/>
              </a:rPr>
              <a:t>Access to Services:</a:t>
            </a:r>
            <a:endParaRPr lang="en-IN" sz="2000" b="0" strike="noStrike" spc="-1" dirty="0">
              <a:solidFill>
                <a:srgbClr val="000000"/>
              </a:solidFill>
              <a:latin typeface="Arial"/>
            </a:endParaRPr>
          </a:p>
          <a:p>
            <a:pPr defTabSz="914400">
              <a:lnSpc>
                <a:spcPct val="100000"/>
              </a:lnSpc>
            </a:pPr>
            <a:r>
              <a:rPr lang="en-US" sz="2000" b="0" strike="noStrike" spc="-1" dirty="0">
                <a:solidFill>
                  <a:schemeClr val="dk1"/>
                </a:solidFill>
                <a:latin typeface="Times New Roman"/>
                <a:ea typeface="DejaVu Sans"/>
              </a:rPr>
              <a:t>                  After successful login, users can view available banking services, book appointments, check status, or modify existing bookings.</a:t>
            </a:r>
            <a:br>
              <a:rPr sz="2000" dirty="0"/>
            </a:br>
            <a:endParaRPr lang="en-IN" sz="2000" b="0" strike="noStrike" spc="-1" dirty="0">
              <a:solidFill>
                <a:srgbClr val="000000"/>
              </a:solidFill>
              <a:latin typeface="Arial"/>
            </a:endParaRPr>
          </a:p>
          <a:p>
            <a:pPr defTabSz="914400">
              <a:lnSpc>
                <a:spcPct val="100000"/>
              </a:lnSpc>
            </a:pPr>
            <a:r>
              <a:rPr lang="en-US" sz="2000" b="1" strike="noStrike" spc="-1" dirty="0">
                <a:solidFill>
                  <a:schemeClr val="dk1"/>
                </a:solidFill>
                <a:latin typeface="Times New Roman"/>
                <a:ea typeface="DejaVu Sans"/>
              </a:rPr>
              <a:t>Quick Navigation:</a:t>
            </a:r>
            <a:endParaRPr lang="en-IN" sz="2000" b="0" strike="noStrike" spc="-1" dirty="0">
              <a:solidFill>
                <a:srgbClr val="000000"/>
              </a:solidFill>
              <a:latin typeface="Arial"/>
            </a:endParaRPr>
          </a:p>
          <a:p>
            <a:pPr defTabSz="914400">
              <a:lnSpc>
                <a:spcPct val="100000"/>
              </a:lnSpc>
            </a:pPr>
            <a:r>
              <a:rPr lang="en-US" sz="2000" b="0" strike="noStrike" spc="-1" dirty="0">
                <a:solidFill>
                  <a:schemeClr val="dk1"/>
                </a:solidFill>
                <a:latin typeface="Times New Roman"/>
                <a:ea typeface="DejaVu Sans"/>
              </a:rPr>
              <a:t>                  The login module provides a fast and user-friendly interface, enabling smooth access to all appointment-related features without complexity.</a:t>
            </a:r>
            <a:endParaRPr lang="en-IN" sz="2000" b="0" strike="noStrike" spc="-1" dirty="0">
              <a:solidFill>
                <a:srgbClr val="000000"/>
              </a:solidFill>
              <a:latin typeface="Arial"/>
            </a:endParaRPr>
          </a:p>
          <a:p>
            <a:pPr defTabSz="914400">
              <a:lnSpc>
                <a:spcPct val="100000"/>
              </a:lnSpc>
            </a:pPr>
            <a:br>
              <a:rPr sz="2000" dirty="0"/>
            </a:br>
            <a:endParaRPr lang="en-IN" sz="2000" b="0" strike="noStrike" spc="-1" dirty="0">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extBox 1"/>
          <p:cNvSpPr/>
          <p:nvPr/>
        </p:nvSpPr>
        <p:spPr>
          <a:xfrm>
            <a:off x="2198880" y="183240"/>
            <a:ext cx="7793280" cy="70643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4000" b="1" strike="noStrike" spc="-1" dirty="0">
                <a:solidFill>
                  <a:srgbClr val="000000"/>
                </a:solidFill>
                <a:latin typeface="Times New Roman"/>
                <a:ea typeface="DejaVu Sans"/>
              </a:rPr>
              <a:t>BOOK APPOINTEMENT</a:t>
            </a:r>
            <a:endParaRPr lang="en-IN" sz="4000" b="0" strike="noStrike" spc="-1" dirty="0">
              <a:solidFill>
                <a:srgbClr val="000000"/>
              </a:solidFill>
              <a:latin typeface="Arial"/>
            </a:endParaRPr>
          </a:p>
        </p:txBody>
      </p:sp>
      <p:sp>
        <p:nvSpPr>
          <p:cNvPr id="81" name="TextBox 2"/>
          <p:cNvSpPr/>
          <p:nvPr/>
        </p:nvSpPr>
        <p:spPr>
          <a:xfrm>
            <a:off x="1068404" y="1035720"/>
            <a:ext cx="9962148" cy="532308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en-US" sz="2000" b="1" dirty="0">
                <a:latin typeface="Times New Roman" panose="02020603050405020304" pitchFamily="18" charset="0"/>
                <a:cs typeface="Times New Roman" panose="02020603050405020304" pitchFamily="18" charset="0"/>
              </a:rPr>
              <a:t>Service Selection</a:t>
            </a:r>
          </a:p>
          <a:p>
            <a:r>
              <a:rPr lang="en-US" sz="2000" dirty="0">
                <a:latin typeface="Times New Roman" panose="02020603050405020304" pitchFamily="18" charset="0"/>
                <a:cs typeface="Times New Roman" panose="02020603050405020304" pitchFamily="18" charset="0"/>
              </a:rPr>
              <a:t>	Users select banking services such as account opening, loan inquiry, fund transfer, or customer support based on their requirements. The system provides a user-friendly interface that allows customers to choose the appropriate service quickly and accurately.</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Date and Time Selection</a:t>
            </a:r>
          </a:p>
          <a:p>
            <a:r>
              <a:rPr lang="en-US" sz="2000" dirty="0">
                <a:latin typeface="Times New Roman" panose="02020603050405020304" pitchFamily="18" charset="0"/>
                <a:cs typeface="Times New Roman" panose="02020603050405020304" pitchFamily="18" charset="0"/>
              </a:rPr>
              <a:t>	Customers choose a convenient date and time slot for their appointment. The system displays available slots, enabling users to schedule appointments according to their preferences and availability.</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Availability Check</a:t>
            </a:r>
          </a:p>
          <a:p>
            <a:r>
              <a:rPr lang="en-US" sz="2000" dirty="0">
                <a:latin typeface="Times New Roman" panose="02020603050405020304" pitchFamily="18" charset="0"/>
                <a:cs typeface="Times New Roman" panose="02020603050405020304" pitchFamily="18" charset="0"/>
              </a:rPr>
              <a:t>	The system verifies the availability of the selected time slot in real time to prevent double booking and scheduling conflicts. Deep Learning techniques further enhance this process by forecasting customer demand patterns and optimizing slot allocation for improved efficiency.</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extBox 1"/>
          <p:cNvSpPr/>
          <p:nvPr/>
        </p:nvSpPr>
        <p:spPr>
          <a:xfrm>
            <a:off x="2039400" y="322560"/>
            <a:ext cx="7781400" cy="70643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4000" b="1" strike="noStrike" spc="-1" dirty="0">
                <a:solidFill>
                  <a:srgbClr val="000000"/>
                </a:solidFill>
                <a:latin typeface="Times New Roman"/>
                <a:ea typeface="DejaVu Sans"/>
              </a:rPr>
              <a:t>MODIFY APPOINTMENT</a:t>
            </a:r>
            <a:endParaRPr lang="en-IN" sz="4000" b="0" strike="noStrike" spc="-1" dirty="0">
              <a:solidFill>
                <a:srgbClr val="000000"/>
              </a:solidFill>
              <a:latin typeface="Arial"/>
            </a:endParaRPr>
          </a:p>
        </p:txBody>
      </p:sp>
      <p:sp>
        <p:nvSpPr>
          <p:cNvPr id="83" name="TextBox 2"/>
          <p:cNvSpPr/>
          <p:nvPr/>
        </p:nvSpPr>
        <p:spPr>
          <a:xfrm>
            <a:off x="1693333" y="1495411"/>
            <a:ext cx="8737600" cy="378419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en-US" sz="2000" b="1" dirty="0">
                <a:latin typeface="Times New Roman" panose="02020603050405020304" pitchFamily="18" charset="0"/>
                <a:cs typeface="Times New Roman" panose="02020603050405020304" pitchFamily="18" charset="0"/>
              </a:rPr>
              <a:t>View Existing Appointment</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Users can view their previously booked appointments with details such as service type, date, and time. </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Update Details:</a:t>
            </a:r>
          </a:p>
          <a:p>
            <a:r>
              <a:rPr lang="en-US" sz="2000" dirty="0">
                <a:latin typeface="Times New Roman" panose="02020603050405020304" pitchFamily="18" charset="0"/>
                <a:cs typeface="Times New Roman" panose="02020603050405020304" pitchFamily="18" charset="0"/>
              </a:rPr>
              <a:t>	Customers can modify the appointment date, time, or selected banking service as needed. </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Availability Check:</a:t>
            </a:r>
          </a:p>
          <a:p>
            <a:r>
              <a:rPr lang="en-US" sz="2000" dirty="0">
                <a:latin typeface="Times New Roman" panose="02020603050405020304" pitchFamily="18" charset="0"/>
                <a:cs typeface="Times New Roman" panose="02020603050405020304" pitchFamily="18" charset="0"/>
              </a:rPr>
              <a:t>	The system checks the availability of the newly selected time slot to prevent conflicts or double bookings. </a:t>
            </a:r>
          </a:p>
          <a:p>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TextBox 1"/>
          <p:cNvSpPr/>
          <p:nvPr/>
        </p:nvSpPr>
        <p:spPr>
          <a:xfrm>
            <a:off x="2415960" y="312840"/>
            <a:ext cx="8220240" cy="70643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4000" b="1" strike="noStrike" spc="-1" dirty="0">
                <a:solidFill>
                  <a:srgbClr val="000000"/>
                </a:solidFill>
                <a:latin typeface="Times New Roman"/>
                <a:ea typeface="Canva Sans"/>
              </a:rPr>
              <a:t>CANCEL APPOINTMENT</a:t>
            </a:r>
            <a:endParaRPr lang="en-IN" sz="4000" b="0" strike="noStrike" spc="-1" dirty="0">
              <a:solidFill>
                <a:srgbClr val="000000"/>
              </a:solidFill>
              <a:latin typeface="Arial"/>
            </a:endParaRPr>
          </a:p>
        </p:txBody>
      </p:sp>
      <p:sp>
        <p:nvSpPr>
          <p:cNvPr id="85" name="TextBox 2"/>
          <p:cNvSpPr/>
          <p:nvPr/>
        </p:nvSpPr>
        <p:spPr>
          <a:xfrm>
            <a:off x="1684867" y="1570585"/>
            <a:ext cx="8779933" cy="470752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en-US" sz="2000" b="1" dirty="0">
                <a:latin typeface="Times New Roman" panose="02020603050405020304" pitchFamily="18" charset="0"/>
                <a:cs typeface="Times New Roman" panose="02020603050405020304" pitchFamily="18" charset="0"/>
              </a:rPr>
              <a:t>View Existing Appointment:</a:t>
            </a:r>
          </a:p>
          <a:p>
            <a:r>
              <a:rPr lang="en-US" sz="2000" dirty="0">
                <a:latin typeface="Times New Roman" panose="02020603050405020304" pitchFamily="18" charset="0"/>
                <a:cs typeface="Times New Roman" panose="02020603050405020304" pitchFamily="18" charset="0"/>
              </a:rPr>
              <a:t>	Users can view their previously booked appointments along with details such as service type, date, and time. </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Select Appointment to Cancel:</a:t>
            </a:r>
          </a:p>
          <a:p>
            <a:r>
              <a:rPr lang="en-US" sz="2000" dirty="0">
                <a:latin typeface="Times New Roman" panose="02020603050405020304" pitchFamily="18" charset="0"/>
                <a:cs typeface="Times New Roman" panose="02020603050405020304" pitchFamily="18" charset="0"/>
              </a:rPr>
              <a:t>	Customers choose the appointment they wish to cancel from their schedule.</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Availability Update:</a:t>
            </a:r>
          </a:p>
          <a:p>
            <a:r>
              <a:rPr lang="en-US" sz="2000" dirty="0">
                <a:latin typeface="Times New Roman" panose="02020603050405020304" pitchFamily="18" charset="0"/>
                <a:cs typeface="Times New Roman" panose="02020603050405020304" pitchFamily="18" charset="0"/>
              </a:rPr>
              <a:t>	Once an appointment is canceled, the system updates the slot availability in real time. </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Confirmation:</a:t>
            </a:r>
          </a:p>
          <a:p>
            <a:r>
              <a:rPr lang="en-US" sz="2000" dirty="0">
                <a:latin typeface="Times New Roman" panose="02020603050405020304" pitchFamily="18" charset="0"/>
                <a:cs typeface="Times New Roman" panose="02020603050405020304" pitchFamily="18" charset="0"/>
              </a:rPr>
              <a:t>	After cancellation, users receive a confirmation notification acknowledging the action. Deep Learning enhances this by sending smart alerts.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extBox 1"/>
          <p:cNvSpPr/>
          <p:nvPr/>
        </p:nvSpPr>
        <p:spPr>
          <a:xfrm>
            <a:off x="2653200" y="218160"/>
            <a:ext cx="6884280" cy="70643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4000" b="1" strike="noStrike" spc="-1" dirty="0">
                <a:solidFill>
                  <a:srgbClr val="000000"/>
                </a:solidFill>
                <a:latin typeface="Times New Roman"/>
                <a:ea typeface="Canva Sans"/>
              </a:rPr>
              <a:t>ADMIN DASHBOARD</a:t>
            </a:r>
            <a:endParaRPr lang="en-IN" sz="4000" b="0" strike="noStrike" spc="-1" dirty="0">
              <a:solidFill>
                <a:srgbClr val="000000"/>
              </a:solidFill>
              <a:latin typeface="Arial"/>
            </a:endParaRPr>
          </a:p>
        </p:txBody>
      </p:sp>
      <p:sp>
        <p:nvSpPr>
          <p:cNvPr id="87" name="TextBox 2"/>
          <p:cNvSpPr/>
          <p:nvPr/>
        </p:nvSpPr>
        <p:spPr>
          <a:xfrm>
            <a:off x="1713840" y="1431226"/>
            <a:ext cx="8763000" cy="4399751"/>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en-US" sz="2000" b="1" dirty="0">
                <a:latin typeface="Times New Roman" panose="02020603050405020304" pitchFamily="18" charset="0"/>
                <a:cs typeface="Times New Roman" panose="02020603050405020304" pitchFamily="18" charset="0"/>
              </a:rPr>
              <a:t>Select Appointment:</a:t>
            </a:r>
          </a:p>
          <a:p>
            <a:r>
              <a:rPr lang="en-US" sz="2000" dirty="0">
                <a:latin typeface="Times New Roman" panose="02020603050405020304" pitchFamily="18" charset="0"/>
                <a:cs typeface="Times New Roman" panose="02020603050405020304" pitchFamily="18" charset="0"/>
              </a:rPr>
              <a:t>	Admins can select specific appointments for monitoring or management. Deep Learning assists by highlighting important or high-priority appointments using predictive analysis.</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Cancellation Process:</a:t>
            </a:r>
          </a:p>
          <a:p>
            <a:r>
              <a:rPr lang="en-US" sz="2000" dirty="0">
                <a:latin typeface="Times New Roman" panose="02020603050405020304" pitchFamily="18" charset="0"/>
                <a:cs typeface="Times New Roman" panose="02020603050405020304" pitchFamily="18" charset="0"/>
              </a:rPr>
              <a:t>	The system allows admins to cancel appointments when required with proper confirmation. Deep Learning supports this by identifying patterns of frequent cancellations and suggesting preventive actions.</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Update Availability:</a:t>
            </a:r>
          </a:p>
          <a:p>
            <a:r>
              <a:rPr lang="en-US" sz="2000" dirty="0">
                <a:latin typeface="Times New Roman" panose="02020603050405020304" pitchFamily="18" charset="0"/>
                <a:cs typeface="Times New Roman" panose="02020603050405020304" pitchFamily="18" charset="0"/>
              </a:rPr>
              <a:t>	Once an appointment is canceled, the time slot becomes available for other users. Deep Learning optimizes slot utilization by predicting demand and reallocating availability efficiently.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Box 1"/>
          <p:cNvSpPr/>
          <p:nvPr/>
        </p:nvSpPr>
        <p:spPr>
          <a:xfrm>
            <a:off x="4573440" y="107280"/>
            <a:ext cx="3656160" cy="70643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4000" b="1" strike="noStrike" spc="-1" dirty="0">
                <a:solidFill>
                  <a:srgbClr val="000000"/>
                </a:solidFill>
                <a:latin typeface="Times New Roman"/>
                <a:ea typeface="Canva Sans"/>
              </a:rPr>
              <a:t>LOG OUT</a:t>
            </a:r>
            <a:endParaRPr lang="en-IN" sz="4000" b="0" strike="noStrike" spc="-1" dirty="0">
              <a:solidFill>
                <a:srgbClr val="000000"/>
              </a:solidFill>
              <a:latin typeface="Arial"/>
            </a:endParaRPr>
          </a:p>
        </p:txBody>
      </p:sp>
      <p:sp>
        <p:nvSpPr>
          <p:cNvPr id="89" name="TextBox 2"/>
          <p:cNvSpPr/>
          <p:nvPr/>
        </p:nvSpPr>
        <p:spPr>
          <a:xfrm>
            <a:off x="1706032" y="1294327"/>
            <a:ext cx="8779935" cy="4399751"/>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en-US" sz="2000" b="1" dirty="0">
                <a:latin typeface="Times New Roman" panose="02020603050405020304" pitchFamily="18" charset="0"/>
                <a:cs typeface="Times New Roman" panose="02020603050405020304" pitchFamily="18" charset="0"/>
              </a:rPr>
              <a:t>Session Termination:</a:t>
            </a:r>
          </a:p>
          <a:p>
            <a:r>
              <a:rPr lang="en-US" sz="2000" dirty="0">
                <a:latin typeface="Times New Roman" panose="02020603050405020304" pitchFamily="18" charset="0"/>
                <a:cs typeface="Times New Roman" panose="02020603050405020304" pitchFamily="18" charset="0"/>
              </a:rPr>
              <a:t>	Allows users to securely exit the system by ending their current session. Deep Learning monitors session behavior to ensure safe and valid logout activities.</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Data Security:</a:t>
            </a:r>
          </a:p>
          <a:p>
            <a:r>
              <a:rPr lang="en-US" sz="2000" dirty="0">
                <a:latin typeface="Times New Roman" panose="02020603050405020304" pitchFamily="18" charset="0"/>
                <a:cs typeface="Times New Roman" panose="02020603050405020304" pitchFamily="18" charset="0"/>
              </a:rPr>
              <a:t>	Ensures that user information and appointment details are protected after logout. Deep Learning enhances security by detecting unusual access patterns and preventing unauthorized usage.</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Clear Session Data</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Removes temporary data to prevent misuse, especially on shared devices. Deep Learning ensures sensitive data is properly cleared based on usage patterns and risk levels.</a:t>
            </a:r>
          </a:p>
          <a:p>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Box 1"/>
          <p:cNvSpPr/>
          <p:nvPr/>
        </p:nvSpPr>
        <p:spPr>
          <a:xfrm>
            <a:off x="4085925" y="240480"/>
            <a:ext cx="3657389" cy="706432"/>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IN" sz="4000" b="1" strike="noStrike" spc="-1" dirty="0">
                <a:solidFill>
                  <a:schemeClr val="dk1"/>
                </a:solidFill>
                <a:latin typeface="Times New Roman"/>
                <a:ea typeface="DejaVu Sans"/>
              </a:rPr>
              <a:t>CONCLUSION</a:t>
            </a:r>
            <a:endParaRPr lang="en-IN" sz="4000" b="0" strike="noStrike" spc="-1" dirty="0">
              <a:solidFill>
                <a:srgbClr val="000000"/>
              </a:solidFill>
              <a:latin typeface="Arial"/>
            </a:endParaRPr>
          </a:p>
        </p:txBody>
      </p:sp>
      <p:sp>
        <p:nvSpPr>
          <p:cNvPr id="91" name="TextBox 3"/>
          <p:cNvSpPr/>
          <p:nvPr/>
        </p:nvSpPr>
        <p:spPr>
          <a:xfrm>
            <a:off x="360000" y="1800000"/>
            <a:ext cx="11400840" cy="4766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endParaRPr lang="en-IN" sz="1800" b="0" strike="noStrike" spc="-1">
              <a:solidFill>
                <a:srgbClr val="000000"/>
              </a:solidFill>
              <a:latin typeface="Arial"/>
              <a:ea typeface="DejaVu Sans"/>
            </a:endParaRPr>
          </a:p>
        </p:txBody>
      </p:sp>
      <p:sp>
        <p:nvSpPr>
          <p:cNvPr id="92" name="Rectangle 91"/>
          <p:cNvSpPr/>
          <p:nvPr/>
        </p:nvSpPr>
        <p:spPr>
          <a:xfrm>
            <a:off x="1642533" y="1647360"/>
            <a:ext cx="8788400" cy="392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2000" dirty="0">
                <a:latin typeface="Times New Roman" panose="02020603050405020304" pitchFamily="18" charset="0"/>
                <a:cs typeface="Times New Roman" panose="02020603050405020304" pitchFamily="18" charset="0"/>
              </a:rPr>
              <a:t>The Appointment Management System for Banks using Deep Learning provides an innovative and efficient solution for modern banking operations. By integrating advanced deep learning algorithms with intelligent appointment scheduling, the system effectively minimizes customer waiting time and improves overall service quality. It enables banks to predict customer arrival patterns, manage appointments efficiently, and allocate staff resources based on demand.</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system enhances customer satisfaction by providing a seamless and convenient booking experience while reducing overcrowding in bank branches. It also improves operational efficiency by automating appointment management tasks, reducing manual errors, and ensuring better utilization of available resources</a:t>
            </a:r>
            <a:r>
              <a:rPr lang="en-US" sz="2000"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extBox 1"/>
          <p:cNvSpPr/>
          <p:nvPr/>
        </p:nvSpPr>
        <p:spPr>
          <a:xfrm>
            <a:off x="3764520" y="1180800"/>
            <a:ext cx="4872240" cy="132198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4000" b="1" spc="-1" dirty="0">
                <a:solidFill>
                  <a:schemeClr val="dk1"/>
                </a:solidFill>
                <a:latin typeface="Times New Roman"/>
              </a:rPr>
              <a:t>U</a:t>
            </a:r>
            <a:r>
              <a:rPr lang="en-IN" sz="4000" b="1" spc="-1" dirty="0">
                <a:solidFill>
                  <a:schemeClr val="dk1"/>
                </a:solidFill>
                <a:latin typeface="Times New Roman"/>
              </a:rPr>
              <a:t>SER DETAILS</a:t>
            </a:r>
            <a:endParaRPr lang="en-IN" sz="4000" b="0" strike="noStrike" spc="-1" dirty="0">
              <a:solidFill>
                <a:srgbClr val="000000"/>
              </a:solidFill>
              <a:latin typeface="Arial"/>
            </a:endParaRPr>
          </a:p>
          <a:p>
            <a:pPr algn="ctr" defTabSz="914400">
              <a:lnSpc>
                <a:spcPct val="100000"/>
              </a:lnSpc>
            </a:pPr>
            <a:endParaRPr lang="en-IN" sz="4000" b="0" strike="noStrike" spc="-1" dirty="0">
              <a:solidFill>
                <a:srgbClr val="000000"/>
              </a:solidFill>
              <a:latin typeface="Arial"/>
            </a:endParaRPr>
          </a:p>
        </p:txBody>
      </p:sp>
      <p:sp>
        <p:nvSpPr>
          <p:cNvPr id="95" name="TextBox 3"/>
          <p:cNvSpPr/>
          <p:nvPr/>
        </p:nvSpPr>
        <p:spPr>
          <a:xfrm>
            <a:off x="2632320" y="128160"/>
            <a:ext cx="6223092" cy="706432"/>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IN" sz="4000" b="1" strike="noStrike" spc="-1" dirty="0">
                <a:solidFill>
                  <a:schemeClr val="dk1"/>
                </a:solidFill>
                <a:latin typeface="Times New Roman"/>
                <a:ea typeface="DejaVu Sans"/>
              </a:rPr>
              <a:t>OUTPUT SCREENSHOTS</a:t>
            </a:r>
            <a:endParaRPr lang="en-IN" sz="4000" b="0" strike="noStrike" spc="-1" dirty="0">
              <a:solidFill>
                <a:srgbClr val="000000"/>
              </a:solidFill>
              <a:latin typeface="Arial"/>
            </a:endParaRPr>
          </a:p>
        </p:txBody>
      </p:sp>
      <p:pic>
        <p:nvPicPr>
          <p:cNvPr id="3" name="Picture 2">
            <a:extLst>
              <a:ext uri="{FF2B5EF4-FFF2-40B4-BE49-F238E27FC236}">
                <a16:creationId xmlns:a16="http://schemas.microsoft.com/office/drawing/2014/main" id="{0D033FDD-E2FD-4D9C-8CFC-2F9843D481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4374" y="2199335"/>
            <a:ext cx="6843251" cy="356646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Box 1"/>
          <p:cNvSpPr/>
          <p:nvPr/>
        </p:nvSpPr>
        <p:spPr>
          <a:xfrm>
            <a:off x="2410120" y="394560"/>
            <a:ext cx="7371759" cy="706432"/>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defTabSz="914400">
              <a:lnSpc>
                <a:spcPct val="100000"/>
              </a:lnSpc>
            </a:pPr>
            <a:r>
              <a:rPr lang="en-US" sz="4000" b="1" spc="-1" dirty="0">
                <a:solidFill>
                  <a:schemeClr val="dk1"/>
                </a:solidFill>
                <a:latin typeface="Times New Roman"/>
              </a:rPr>
              <a:t>B</a:t>
            </a:r>
            <a:r>
              <a:rPr lang="en-IN" sz="4000" b="1" spc="-1" dirty="0">
                <a:solidFill>
                  <a:schemeClr val="dk1"/>
                </a:solidFill>
                <a:latin typeface="Times New Roman"/>
              </a:rPr>
              <a:t>OOK APPOINTMENT</a:t>
            </a:r>
            <a:endParaRPr lang="en-IN" sz="4000" b="0" strike="noStrike" spc="-1" dirty="0">
              <a:solidFill>
                <a:srgbClr val="000000"/>
              </a:solidFill>
              <a:latin typeface="Arial"/>
            </a:endParaRPr>
          </a:p>
        </p:txBody>
      </p:sp>
      <p:pic>
        <p:nvPicPr>
          <p:cNvPr id="3" name="Picture 2">
            <a:extLst>
              <a:ext uri="{FF2B5EF4-FFF2-40B4-BE49-F238E27FC236}">
                <a16:creationId xmlns:a16="http://schemas.microsoft.com/office/drawing/2014/main" id="{3233F2C1-96B7-4043-A346-2672B0236A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9266" y="2209800"/>
            <a:ext cx="6942667" cy="353906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extBox 1"/>
          <p:cNvSpPr/>
          <p:nvPr/>
        </p:nvSpPr>
        <p:spPr>
          <a:xfrm>
            <a:off x="3394888" y="231480"/>
            <a:ext cx="6259191" cy="706432"/>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4000" b="1" spc="-1" dirty="0">
                <a:solidFill>
                  <a:schemeClr val="dk1"/>
                </a:solidFill>
                <a:latin typeface="Times New Roman"/>
              </a:rPr>
              <a:t>C</a:t>
            </a:r>
            <a:r>
              <a:rPr lang="en-IN" sz="4000" b="1" spc="-1" dirty="0">
                <a:solidFill>
                  <a:schemeClr val="dk1"/>
                </a:solidFill>
                <a:latin typeface="Times New Roman"/>
              </a:rPr>
              <a:t>ANCEL APPOINTMENT</a:t>
            </a:r>
            <a:endParaRPr lang="en-IN" sz="4000" b="0" strike="noStrike" spc="-1" dirty="0">
              <a:solidFill>
                <a:srgbClr val="000000"/>
              </a:solidFill>
              <a:latin typeface="Arial"/>
            </a:endParaRPr>
          </a:p>
        </p:txBody>
      </p:sp>
      <p:pic>
        <p:nvPicPr>
          <p:cNvPr id="3" name="Picture 2">
            <a:extLst>
              <a:ext uri="{FF2B5EF4-FFF2-40B4-BE49-F238E27FC236}">
                <a16:creationId xmlns:a16="http://schemas.microsoft.com/office/drawing/2014/main" id="{B84DCD1B-85D0-44D9-9588-EDADB95B0C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1967" y="2184400"/>
            <a:ext cx="6968066" cy="364913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extBox 1"/>
          <p:cNvSpPr/>
          <p:nvPr/>
        </p:nvSpPr>
        <p:spPr>
          <a:xfrm>
            <a:off x="2386726" y="201983"/>
            <a:ext cx="7418546" cy="706432"/>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4000" b="1" strike="noStrike" spc="-1" dirty="0">
                <a:solidFill>
                  <a:schemeClr val="dk1"/>
                </a:solidFill>
                <a:latin typeface="Times New Roman"/>
              </a:rPr>
              <a:t>APPOINTMENT DASHBOARD</a:t>
            </a:r>
            <a:endParaRPr lang="en-IN" sz="4000" b="0" strike="noStrike" spc="-1" dirty="0">
              <a:solidFill>
                <a:srgbClr val="000000"/>
              </a:solidFill>
              <a:latin typeface="Arial"/>
            </a:endParaRPr>
          </a:p>
        </p:txBody>
      </p:sp>
      <p:pic>
        <p:nvPicPr>
          <p:cNvPr id="7" name="Picture 6">
            <a:extLst>
              <a:ext uri="{FF2B5EF4-FFF2-40B4-BE49-F238E27FC236}">
                <a16:creationId xmlns:a16="http://schemas.microsoft.com/office/drawing/2014/main" id="{BDD0B1F1-0C0B-4C6B-BA7D-A5A98F1505CC}"/>
              </a:ext>
            </a:extLst>
          </p:cNvPr>
          <p:cNvPicPr>
            <a:picLocks noChangeAspect="1"/>
          </p:cNvPicPr>
          <p:nvPr/>
        </p:nvPicPr>
        <p:blipFill rotWithShape="1">
          <a:blip r:embed="rId2">
            <a:extLst>
              <a:ext uri="{28A0092B-C50C-407E-A947-70E740481C1C}">
                <a14:useLocalDpi xmlns:a14="http://schemas.microsoft.com/office/drawing/2010/main" val="0"/>
              </a:ext>
            </a:extLst>
          </a:blip>
          <a:srcRect l="2657" r="1941"/>
          <a:stretch/>
        </p:blipFill>
        <p:spPr>
          <a:xfrm>
            <a:off x="2700867" y="2167467"/>
            <a:ext cx="6969600" cy="3450466"/>
          </a:xfrm>
          <a:prstGeom prst="rect">
            <a:avLst/>
          </a:prstGeom>
        </p:spPr>
      </p:pic>
    </p:spTree>
    <p:extLst>
      <p:ext uri="{BB962C8B-B14F-4D97-AF65-F5344CB8AC3E}">
        <p14:creationId xmlns:p14="http://schemas.microsoft.com/office/powerpoint/2010/main" val="37492195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extBox 1"/>
          <p:cNvSpPr/>
          <p:nvPr/>
        </p:nvSpPr>
        <p:spPr>
          <a:xfrm>
            <a:off x="4268498" y="129240"/>
            <a:ext cx="3340122" cy="706432"/>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IN" sz="4000" b="1" strike="noStrike" spc="-1" dirty="0">
                <a:solidFill>
                  <a:schemeClr val="dk1"/>
                </a:solidFill>
                <a:latin typeface="Times New Roman"/>
                <a:ea typeface="DejaVu Sans"/>
              </a:rPr>
              <a:t>REFERENCE</a:t>
            </a:r>
            <a:endParaRPr lang="en-IN" sz="4000" b="0" strike="noStrike" spc="-1" dirty="0">
              <a:solidFill>
                <a:srgbClr val="000000"/>
              </a:solidFill>
              <a:latin typeface="Arial"/>
            </a:endParaRPr>
          </a:p>
        </p:txBody>
      </p:sp>
      <p:sp>
        <p:nvSpPr>
          <p:cNvPr id="103" name="TextBox 2"/>
          <p:cNvSpPr/>
          <p:nvPr/>
        </p:nvSpPr>
        <p:spPr>
          <a:xfrm>
            <a:off x="1625599" y="1239833"/>
            <a:ext cx="8932334" cy="511353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50000"/>
              </a:lnSpc>
            </a:pPr>
            <a:r>
              <a:rPr lang="en-IN" sz="2000" b="0" strike="noStrike" spc="-1" dirty="0">
                <a:solidFill>
                  <a:schemeClr val="dk1"/>
                </a:solidFill>
                <a:latin typeface="Times New Roman"/>
                <a:ea typeface="DejaVu Sans"/>
              </a:rPr>
              <a:t>[1]</a:t>
            </a:r>
            <a:r>
              <a:rPr lang="en-US" sz="2000" spc="-1" dirty="0">
                <a:solidFill>
                  <a:schemeClr val="dk1"/>
                </a:solidFill>
                <a:latin typeface="Times New Roman"/>
              </a:rPr>
              <a:t> M. Jena and S. </a:t>
            </a:r>
            <a:r>
              <a:rPr lang="en-US" sz="2000" spc="-1" dirty="0" err="1">
                <a:solidFill>
                  <a:schemeClr val="dk1"/>
                </a:solidFill>
                <a:latin typeface="Times New Roman"/>
              </a:rPr>
              <a:t>Dehuri</a:t>
            </a:r>
            <a:r>
              <a:rPr lang="en-US" sz="2000" spc="-1" dirty="0">
                <a:solidFill>
                  <a:schemeClr val="dk1"/>
                </a:solidFill>
                <a:latin typeface="Times New Roman"/>
              </a:rPr>
              <a:t>, ‘‘</a:t>
            </a:r>
            <a:r>
              <a:rPr lang="en-US" sz="2000" spc="-1" dirty="0" err="1">
                <a:solidFill>
                  <a:schemeClr val="dk1"/>
                </a:solidFill>
                <a:latin typeface="Times New Roman"/>
              </a:rPr>
              <a:t>DecisionTree</a:t>
            </a:r>
            <a:r>
              <a:rPr lang="en-US" sz="2000" spc="-1" dirty="0">
                <a:solidFill>
                  <a:schemeClr val="dk1"/>
                </a:solidFill>
                <a:latin typeface="Times New Roman"/>
              </a:rPr>
              <a:t> for classification and </a:t>
            </a:r>
            <a:r>
              <a:rPr lang="en-US" sz="2000" spc="-1" dirty="0" err="1">
                <a:solidFill>
                  <a:schemeClr val="dk1"/>
                </a:solidFill>
                <a:latin typeface="Times New Roman"/>
              </a:rPr>
              <a:t>regres-sion</a:t>
            </a:r>
            <a:r>
              <a:rPr lang="en-US" sz="2000" spc="-1" dirty="0">
                <a:solidFill>
                  <a:schemeClr val="dk1"/>
                </a:solidFill>
                <a:latin typeface="Times New Roman"/>
              </a:rPr>
              <a:t>: A state-of-the art review,’’ Informatica, vol. 44, no. 4, pp. 405–420,Dec. 2020.</a:t>
            </a:r>
            <a:endParaRPr lang="en-IN" sz="2000" b="0" strike="noStrike" spc="-1" dirty="0">
              <a:solidFill>
                <a:srgbClr val="000000"/>
              </a:solidFill>
              <a:latin typeface="Arial"/>
            </a:endParaRPr>
          </a:p>
          <a:p>
            <a:pPr>
              <a:lnSpc>
                <a:spcPct val="150000"/>
              </a:lnSpc>
            </a:pPr>
            <a:r>
              <a:rPr lang="en-IN" sz="2000" b="0" strike="noStrike" spc="-1" dirty="0">
                <a:solidFill>
                  <a:schemeClr val="dk1"/>
                </a:solidFill>
                <a:latin typeface="Times New Roman"/>
                <a:ea typeface="DejaVu Sans"/>
              </a:rPr>
              <a:t>[2] </a:t>
            </a:r>
            <a:r>
              <a:rPr lang="en-US" sz="2000" spc="-1" dirty="0">
                <a:solidFill>
                  <a:schemeClr val="dk1"/>
                </a:solidFill>
                <a:latin typeface="Times New Roman"/>
              </a:rPr>
              <a:t>R. Sharma, S. Gupta, and P. Garg, ‘‘Model for predicting cardiac health using deep learning classifier,’’ in Proc. 5th Int. Conf. </a:t>
            </a:r>
            <a:r>
              <a:rPr lang="en-US" sz="2000" spc="-1" dirty="0" err="1">
                <a:solidFill>
                  <a:schemeClr val="dk1"/>
                </a:solidFill>
                <a:latin typeface="Times New Roman"/>
              </a:rPr>
              <a:t>Comput.Intell.Commun</a:t>
            </a:r>
            <a:r>
              <a:rPr lang="en-US" sz="2000" spc="-1" dirty="0">
                <a:solidFill>
                  <a:schemeClr val="dk1"/>
                </a:solidFill>
                <a:latin typeface="Times New Roman"/>
              </a:rPr>
              <a:t>. Technol. (CCICT), Jul. 2022, pp. 25–30.</a:t>
            </a:r>
            <a:endParaRPr lang="en-IN" sz="2000" b="0" strike="noStrike" spc="-1" dirty="0">
              <a:solidFill>
                <a:srgbClr val="000000"/>
              </a:solidFill>
              <a:latin typeface="Arial"/>
            </a:endParaRPr>
          </a:p>
          <a:p>
            <a:pPr>
              <a:lnSpc>
                <a:spcPct val="150000"/>
              </a:lnSpc>
            </a:pPr>
            <a:r>
              <a:rPr lang="en-US" sz="2000" b="0" strike="noStrike" spc="-1" dirty="0">
                <a:solidFill>
                  <a:schemeClr val="dk1"/>
                </a:solidFill>
                <a:latin typeface="Times New Roman"/>
                <a:ea typeface="DejaVu Sans"/>
              </a:rPr>
              <a:t>[3</a:t>
            </a:r>
            <a:r>
              <a:rPr lang="en-US" sz="2000" spc="-1" dirty="0">
                <a:solidFill>
                  <a:schemeClr val="dk1"/>
                </a:solidFill>
                <a:latin typeface="Times New Roman"/>
              </a:rPr>
              <a:t>] F. Rustam, A. A. </a:t>
            </a:r>
            <a:r>
              <a:rPr lang="en-US" sz="2000" spc="-1" dirty="0" err="1">
                <a:solidFill>
                  <a:schemeClr val="dk1"/>
                </a:solidFill>
                <a:latin typeface="Times New Roman"/>
              </a:rPr>
              <a:t>Reshi</a:t>
            </a:r>
            <a:r>
              <a:rPr lang="en-US" sz="2000" spc="-1" dirty="0">
                <a:solidFill>
                  <a:schemeClr val="dk1"/>
                </a:solidFill>
                <a:latin typeface="Times New Roman"/>
              </a:rPr>
              <a:t>, A. Mehmood, S. Ullah, B.-W. On, W. </a:t>
            </a:r>
            <a:r>
              <a:rPr lang="en-US" sz="2000" spc="-1" dirty="0" err="1">
                <a:solidFill>
                  <a:schemeClr val="dk1"/>
                </a:solidFill>
                <a:latin typeface="Times New Roman"/>
              </a:rPr>
              <a:t>Aslam,and</a:t>
            </a:r>
            <a:r>
              <a:rPr lang="en-US" sz="2000" spc="-1" dirty="0">
                <a:solidFill>
                  <a:schemeClr val="dk1"/>
                </a:solidFill>
                <a:latin typeface="Times New Roman"/>
              </a:rPr>
              <a:t> G. S. Choi, ‘‘COVID-19 future forecasting using supervised machine learning models,’’ IEEE Access, vol. 8, pp. 101489–101499, 2020.</a:t>
            </a:r>
            <a:endParaRPr lang="en-IN" sz="2000" b="0" strike="noStrike" spc="-1" dirty="0">
              <a:solidFill>
                <a:srgbClr val="000000"/>
              </a:solidFill>
              <a:latin typeface="Arial"/>
            </a:endParaRPr>
          </a:p>
          <a:p>
            <a:pPr>
              <a:lnSpc>
                <a:spcPct val="150000"/>
              </a:lnSpc>
            </a:pPr>
            <a:r>
              <a:rPr lang="en-IN" sz="2000" b="0" strike="noStrike" spc="-1" dirty="0">
                <a:solidFill>
                  <a:schemeClr val="dk1"/>
                </a:solidFill>
                <a:latin typeface="Times New Roman"/>
                <a:ea typeface="DejaVu Sans"/>
              </a:rPr>
              <a:t>[</a:t>
            </a:r>
            <a:r>
              <a:rPr lang="en-IN" sz="2000" spc="-1" dirty="0">
                <a:solidFill>
                  <a:schemeClr val="dk1"/>
                </a:solidFill>
                <a:latin typeface="Times New Roman"/>
              </a:rPr>
              <a:t>4] J. Qin, L. Chen, Y. Liu, C. Liu, C. Feng, and B. </a:t>
            </a:r>
            <a:r>
              <a:rPr lang="en-IN" sz="2000" spc="-1" dirty="0" err="1">
                <a:solidFill>
                  <a:schemeClr val="dk1"/>
                </a:solidFill>
                <a:latin typeface="Times New Roman"/>
              </a:rPr>
              <a:t>Chen,‘‘A</a:t>
            </a:r>
            <a:r>
              <a:rPr lang="en-IN" sz="2000" spc="-1" dirty="0">
                <a:solidFill>
                  <a:schemeClr val="dk1"/>
                </a:solidFill>
                <a:latin typeface="Times New Roman"/>
              </a:rPr>
              <a:t> machine learning methodology for diagnosing chronic kidney disease,’’ IEEE Access, vol. 8,pp. 20991–21002, 2020.</a:t>
            </a:r>
            <a:endParaRPr lang="en-IN" sz="2000" b="0" strike="noStrike" spc="-1" dirty="0">
              <a:solidFill>
                <a:srgbClr val="000000"/>
              </a:solidFill>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TextBox 1"/>
          <p:cNvSpPr/>
          <p:nvPr/>
        </p:nvSpPr>
        <p:spPr>
          <a:xfrm>
            <a:off x="2875642" y="2485360"/>
            <a:ext cx="6440715" cy="1321985"/>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IN" sz="8000" b="1" strike="noStrike" spc="-1" dirty="0">
                <a:solidFill>
                  <a:schemeClr val="dk1"/>
                </a:solidFill>
                <a:latin typeface="Times New Roman"/>
                <a:ea typeface="DejaVu Sans"/>
              </a:rPr>
              <a:t>THANK YOU</a:t>
            </a:r>
            <a:endParaRPr lang="en-IN" sz="8000" b="0" strike="noStrike" spc="-1" dirty="0">
              <a:solidFill>
                <a:srgbClr val="000000"/>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1290</TotalTime>
  <Words>1744</Words>
  <Application>Microsoft Office PowerPoint</Application>
  <PresentationFormat>Widescreen</PresentationFormat>
  <Paragraphs>148</Paragraphs>
  <Slides>24</Slides>
  <Notes>0</Notes>
  <HiddenSlides>0</HiddenSlides>
  <MMClips>0</MMClips>
  <ScaleCrop>false</ScaleCrop>
  <HeadingPairs>
    <vt:vector size="6" baseType="variant">
      <vt:variant>
        <vt:lpstr>Fonts Used</vt:lpstr>
      </vt:variant>
      <vt:variant>
        <vt:i4>7</vt:i4>
      </vt:variant>
      <vt:variant>
        <vt:lpstr>Theme</vt:lpstr>
      </vt:variant>
      <vt:variant>
        <vt:i4>7</vt:i4>
      </vt:variant>
      <vt:variant>
        <vt:lpstr>Slide Titles</vt:lpstr>
      </vt:variant>
      <vt:variant>
        <vt:i4>24</vt:i4>
      </vt:variant>
    </vt:vector>
  </HeadingPairs>
  <TitlesOfParts>
    <vt:vector size="38" baseType="lpstr">
      <vt:lpstr>Arial</vt:lpstr>
      <vt:lpstr>Calibri</vt:lpstr>
      <vt:lpstr>Canva Sans</vt:lpstr>
      <vt:lpstr>DejaVu Sans</vt:lpstr>
      <vt:lpstr>Symbol</vt:lpstr>
      <vt:lpstr>Times New Roman</vt:lpstr>
      <vt:lpstr>Wingdings</vt:lpstr>
      <vt:lpstr>Office Theme</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Karthik Rajan V</dc:creator>
  <dc:description/>
  <cp:lastModifiedBy>Bujuku Bujuku</cp:lastModifiedBy>
  <cp:revision>52</cp:revision>
  <dcterms:created xsi:type="dcterms:W3CDTF">2024-12-01T16:04:09Z</dcterms:created>
  <dcterms:modified xsi:type="dcterms:W3CDTF">2026-05-31T03:54:56Z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r8>24</vt:r8>
  </property>
</Properties>
</file>